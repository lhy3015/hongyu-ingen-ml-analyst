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286000"/>
            <a:ext cx="10545775" cy="2011680"/>
          </a:xfrm>
          <a:prstGeom prst="rect">
            <a:avLst/>
          </a:prstGeom>
          <a:noFill/>
        </p:spPr>
        <p:txBody>
          <a:bodyPr wrap="square">
            <a:spAutoFit/>
          </a:bodyPr>
          <a:lstStyle/>
          <a:p>
            <a:pPr>
              <a:spcAft>
                <a:spcPts val="1200"/>
              </a:spcAft>
            </a:pPr>
            <a:r>
              <a:rPr sz="4000" b="1">
                <a:solidFill>
                  <a:srgbClr val="1A1A1A"/>
                </a:solidFill>
                <a:latin typeface="Calibri"/>
              </a:rPr>
              <a:t>Capstone Review</a:t>
            </a:r>
          </a:p>
          <a:p>
            <a:pPr>
              <a:spcAft>
                <a:spcPts val="600"/>
              </a:spcAft>
            </a:pPr>
            <a:r>
              <a:rPr sz="1900" b="0">
                <a:solidFill>
                  <a:srgbClr val="52514E"/>
                </a:solidFill>
                <a:latin typeface="Calibri"/>
              </a:rPr>
              <a:t>ML &amp; NN Analyst Internship · InGen Dynamics</a:t>
            </a:r>
          </a:p>
          <a:p>
            <a:pPr>
              <a:spcAft>
                <a:spcPts val="0"/>
              </a:spcAft>
            </a:pPr>
            <a:r>
              <a:rPr sz="1500" b="0">
                <a:solidFill>
                  <a:srgbClr val="52514E"/>
                </a:solidFill>
                <a:latin typeface="Calibri"/>
              </a:rPr>
              <a:t>Hongyu Liu · August 2026</a:t>
            </a:r>
          </a:p>
        </p:txBody>
      </p:sp>
      <p:sp>
        <p:nvSpPr>
          <p:cNvPr id="3" name="TextBox 2"/>
          <p:cNvSpPr txBox="1"/>
          <p:nvPr/>
        </p:nvSpPr>
        <p:spPr>
          <a:xfrm>
            <a:off x="822960" y="5029200"/>
            <a:ext cx="10545775" cy="548640"/>
          </a:xfrm>
          <a:prstGeom prst="rect">
            <a:avLst/>
          </a:prstGeom>
          <a:noFill/>
        </p:spPr>
        <p:txBody>
          <a:bodyPr wrap="square">
            <a:spAutoFit/>
          </a:bodyPr>
          <a:lstStyle/>
          <a:p>
            <a:pPr>
              <a:spcAft>
                <a:spcPts val="0"/>
              </a:spcAft>
            </a:pPr>
            <a:r>
              <a:rPr sz="1400" b="0">
                <a:solidFill>
                  <a:srgbClr val="898781"/>
                </a:solidFill>
                <a:latin typeface="Calibri"/>
              </a:rPr>
              <a:t>Eight weeks · six model families · three evaluation panels · all six PIC 2.0 classes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PIC 2.0 ML context</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The six model classes, the platform task that exercises each, and the week that delivered the evidence</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All six classes now carry a runnable experiment rather than a literature mapping.</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graphicFrame>
        <p:nvGraphicFramePr>
          <p:cNvPr id="7" name="Table 6"/>
          <p:cNvGraphicFramePr>
            <a:graphicFrameLocks noGrp="1"/>
          </p:cNvGraphicFramePr>
          <p:nvPr/>
        </p:nvGraphicFramePr>
        <p:xfrm>
          <a:off x="548640" y="1783080"/>
          <a:ext cx="11091670" cy="2377440"/>
        </p:xfrm>
        <a:graphic>
          <a:graphicData uri="http://schemas.openxmlformats.org/drawingml/2006/table">
            <a:tbl>
              <a:tblPr firstRow="1" bandRow="1">
                <a:tableStyleId>{5C22544A-7EE6-4342-B048-85BDC9FD1C3A}</a:tableStyleId>
              </a:tblPr>
              <a:tblGrid>
                <a:gridCol w="1760582"/>
                <a:gridCol w="1936641"/>
                <a:gridCol w="5985981"/>
                <a:gridCol w="1408466"/>
              </a:tblGrid>
              <a:tr h="339634">
                <a:tc>
                  <a:txBody>
                    <a:bodyPr/>
                    <a:lstStyle/>
                    <a:p>
                      <a:pPr algn="l"/>
                      <a:r>
                        <a:rPr sz="1050" b="1">
                          <a:solidFill>
                            <a:srgbClr val="FFFFFF"/>
                          </a:solidFill>
                          <a:latin typeface="Calibri"/>
                        </a:rPr>
                        <a:t>PIC 2.0 class</a:t>
                      </a:r>
                    </a:p>
                  </a:txBody>
                  <a:tcPr marL="54864" marR="54864" marT="18288" marB="18288">
                    <a:solidFill>
                      <a:srgbClr val="1C5CAB"/>
                    </a:solidFill>
                  </a:tcPr>
                </a:tc>
                <a:tc>
                  <a:txBody>
                    <a:bodyPr/>
                    <a:lstStyle/>
                    <a:p>
                      <a:pPr algn="l"/>
                      <a:r>
                        <a:rPr sz="1050" b="1">
                          <a:solidFill>
                            <a:srgbClr val="FFFFFF"/>
                          </a:solidFill>
                          <a:latin typeface="Calibri"/>
                        </a:rPr>
                        <a:t>Platform anchor</a:t>
                      </a:r>
                    </a:p>
                  </a:txBody>
                  <a:tcPr marL="54864" marR="54864" marT="18288" marB="18288">
                    <a:solidFill>
                      <a:srgbClr val="1C5CAB"/>
                    </a:solidFill>
                  </a:tcPr>
                </a:tc>
                <a:tc>
                  <a:txBody>
                    <a:bodyPr/>
                    <a:lstStyle/>
                    <a:p>
                      <a:pPr algn="l"/>
                      <a:r>
                        <a:rPr sz="1050" b="1">
                          <a:solidFill>
                            <a:srgbClr val="FFFFFF"/>
                          </a:solidFill>
                          <a:latin typeface="Calibri"/>
                        </a:rPr>
                        <a:t>Exercised by</a:t>
                      </a:r>
                    </a:p>
                  </a:txBody>
                  <a:tcPr marL="54864" marR="54864" marT="18288" marB="18288">
                    <a:solidFill>
                      <a:srgbClr val="1C5CAB"/>
                    </a:solidFill>
                  </a:tcPr>
                </a:tc>
                <a:tc>
                  <a:txBody>
                    <a:bodyPr/>
                    <a:lstStyle/>
                    <a:p>
                      <a:pPr algn="l"/>
                      <a:r>
                        <a:rPr sz="1050" b="1">
                          <a:solidFill>
                            <a:srgbClr val="FFFFFF"/>
                          </a:solidFill>
                          <a:latin typeface="Calibri"/>
                        </a:rPr>
                        <a:t>Week</a:t>
                      </a:r>
                    </a:p>
                  </a:txBody>
                  <a:tcPr marL="54864" marR="54864" marT="18288" marB="18288">
                    <a:solidFill>
                      <a:srgbClr val="1C5CAB"/>
                    </a:solidFill>
                  </a:tcPr>
                </a:tc>
              </a:tr>
              <a:tr h="339634">
                <a:tc>
                  <a:txBody>
                    <a:bodyPr/>
                    <a:lstStyle/>
                    <a:p>
                      <a:pPr algn="l"/>
                      <a:r>
                        <a:rPr sz="1050" b="0">
                          <a:solidFill>
                            <a:srgbClr val="52514E"/>
                          </a:solidFill>
                          <a:latin typeface="Calibri"/>
                        </a:rPr>
                        <a:t>GRPO</a:t>
                      </a:r>
                    </a:p>
                  </a:txBody>
                  <a:tcPr marL="54864" marR="54864" marT="18288" marB="18288">
                    <a:solidFill>
                      <a:srgbClr val="F2F5FA"/>
                    </a:solidFill>
                  </a:tcPr>
                </a:tc>
                <a:tc>
                  <a:txBody>
                    <a:bodyPr/>
                    <a:lstStyle/>
                    <a:p>
                      <a:pPr algn="l"/>
                      <a:r>
                        <a:rPr sz="1050" b="0">
                          <a:solidFill>
                            <a:srgbClr val="52514E"/>
                          </a:solidFill>
                          <a:latin typeface="Calibri"/>
                        </a:rPr>
                        <a:t>Aido Rover</a:t>
                      </a:r>
                    </a:p>
                  </a:txBody>
                  <a:tcPr marL="54864" marR="54864" marT="18288" marB="18288">
                    <a:solidFill>
                      <a:srgbClr val="F2F5FA"/>
                    </a:solidFill>
                  </a:tcPr>
                </a:tc>
                <a:tc>
                  <a:txBody>
                    <a:bodyPr/>
                    <a:lstStyle/>
                    <a:p>
                      <a:pPr algn="l"/>
                      <a:r>
                        <a:rPr sz="1050" b="0">
                          <a:solidFill>
                            <a:srgbClr val="52514E"/>
                          </a:solidFill>
                          <a:latin typeface="Calibri"/>
                        </a:rPr>
                        <a:t>policy-gradient patrol policies and a group-relative baseline</a:t>
                      </a:r>
                    </a:p>
                  </a:txBody>
                  <a:tcPr marL="54864" marR="54864" marT="18288" marB="18288">
                    <a:solidFill>
                      <a:srgbClr val="F2F5FA"/>
                    </a:solidFill>
                  </a:tcPr>
                </a:tc>
                <a:tc>
                  <a:txBody>
                    <a:bodyPr/>
                    <a:lstStyle/>
                    <a:p>
                      <a:pPr algn="l"/>
                      <a:r>
                        <a:rPr sz="1050" b="0">
                          <a:solidFill>
                            <a:srgbClr val="52514E"/>
                          </a:solidFill>
                          <a:latin typeface="Calibri"/>
                        </a:rPr>
                        <a:t>W5–6</a:t>
                      </a:r>
                    </a:p>
                  </a:txBody>
                  <a:tcPr marL="54864" marR="54864" marT="18288" marB="18288">
                    <a:solidFill>
                      <a:srgbClr val="F2F5FA"/>
                    </a:solidFill>
                  </a:tcPr>
                </a:tc>
              </a:tr>
              <a:tr h="339634">
                <a:tc>
                  <a:txBody>
                    <a:bodyPr/>
                    <a:lstStyle/>
                    <a:p>
                      <a:pPr algn="l"/>
                      <a:r>
                        <a:rPr sz="1050" b="0">
                          <a:solidFill>
                            <a:srgbClr val="52514E"/>
                          </a:solidFill>
                          <a:latin typeface="Calibri"/>
                        </a:rPr>
                        <a:t>STUM</a:t>
                      </a:r>
                    </a:p>
                  </a:txBody>
                  <a:tcPr marL="54864" marR="54864" marT="18288" marB="18288">
                    <a:solidFill>
                      <a:srgbClr val="FFFFFF"/>
                    </a:solidFill>
                  </a:tcPr>
                </a:tc>
                <a:tc>
                  <a:txBody>
                    <a:bodyPr/>
                    <a:lstStyle/>
                    <a:p>
                      <a:pPr algn="l"/>
                      <a:r>
                        <a:rPr sz="1050" b="0">
                          <a:solidFill>
                            <a:srgbClr val="52514E"/>
                          </a:solidFill>
                          <a:latin typeface="Calibri"/>
                        </a:rPr>
                        <a:t>Rover · Senpai</a:t>
                      </a:r>
                    </a:p>
                  </a:txBody>
                  <a:tcPr marL="54864" marR="54864" marT="18288" marB="18288">
                    <a:solidFill>
                      <a:srgbClr val="FFFFFF"/>
                    </a:solidFill>
                  </a:tcPr>
                </a:tc>
                <a:tc>
                  <a:txBody>
                    <a:bodyPr/>
                    <a:lstStyle/>
                    <a:p>
                      <a:pPr algn="l"/>
                      <a:r>
                        <a:rPr sz="1050" b="0">
                          <a:solidFill>
                            <a:srgbClr val="52514E"/>
                          </a:solidFill>
                          <a:latin typeface="Calibri"/>
                        </a:rPr>
                        <a:t>calibration of the score-producing classifiers</a:t>
                      </a:r>
                    </a:p>
                  </a:txBody>
                  <a:tcPr marL="54864" marR="54864" marT="18288" marB="18288">
                    <a:solidFill>
                      <a:srgbClr val="FFFFFF"/>
                    </a:solidFill>
                  </a:tcPr>
                </a:tc>
                <a:tc>
                  <a:txBody>
                    <a:bodyPr/>
                    <a:lstStyle/>
                    <a:p>
                      <a:pPr algn="l"/>
                      <a:r>
                        <a:rPr sz="1050" b="0">
                          <a:solidFill>
                            <a:srgbClr val="52514E"/>
                          </a:solidFill>
                          <a:latin typeface="Calibri"/>
                        </a:rPr>
                        <a:t>W3 · W7</a:t>
                      </a:r>
                    </a:p>
                  </a:txBody>
                  <a:tcPr marL="54864" marR="54864" marT="18288" marB="18288">
                    <a:solidFill>
                      <a:srgbClr val="FFFFFF"/>
                    </a:solidFill>
                  </a:tcPr>
                </a:tc>
              </a:tr>
              <a:tr h="339634">
                <a:tc>
                  <a:txBody>
                    <a:bodyPr/>
                    <a:lstStyle/>
                    <a:p>
                      <a:pPr algn="l"/>
                      <a:r>
                        <a:rPr sz="1050" b="0">
                          <a:solidFill>
                            <a:srgbClr val="52514E"/>
                          </a:solidFill>
                          <a:latin typeface="Calibri"/>
                        </a:rPr>
                        <a:t>SEOM</a:t>
                      </a:r>
                    </a:p>
                  </a:txBody>
                  <a:tcPr marL="54864" marR="54864" marT="18288" marB="18288">
                    <a:solidFill>
                      <a:srgbClr val="F2F5FA"/>
                    </a:solidFill>
                  </a:tcPr>
                </a:tc>
                <a:tc>
                  <a:txBody>
                    <a:bodyPr/>
                    <a:lstStyle/>
                    <a:p>
                      <a:pPr algn="l"/>
                      <a:r>
                        <a:rPr sz="1050" b="0">
                          <a:solidFill>
                            <a:srgbClr val="52514E"/>
                          </a:solidFill>
                          <a:latin typeface="Calibri"/>
                        </a:rPr>
                        <a:t>Aido Rover</a:t>
                      </a:r>
                    </a:p>
                  </a:txBody>
                  <a:tcPr marL="54864" marR="54864" marT="18288" marB="18288">
                    <a:solidFill>
                      <a:srgbClr val="F2F5FA"/>
                    </a:solidFill>
                  </a:tcPr>
                </a:tc>
                <a:tc>
                  <a:txBody>
                    <a:bodyPr/>
                    <a:lstStyle/>
                    <a:p>
                      <a:pPr algn="l"/>
                      <a:r>
                        <a:rPr sz="1050" b="0">
                          <a:solidFill>
                            <a:srgbClr val="52514E"/>
                          </a:solidFill>
                          <a:latin typeface="Calibri"/>
                        </a:rPr>
                        <a:t>training-time low-battery penalty and its ablation</a:t>
                      </a:r>
                    </a:p>
                  </a:txBody>
                  <a:tcPr marL="54864" marR="54864" marT="18288" marB="18288">
                    <a:solidFill>
                      <a:srgbClr val="F2F5FA"/>
                    </a:solidFill>
                  </a:tcPr>
                </a:tc>
                <a:tc>
                  <a:txBody>
                    <a:bodyPr/>
                    <a:lstStyle/>
                    <a:p>
                      <a:pPr algn="l"/>
                      <a:r>
                        <a:rPr sz="1050" b="0">
                          <a:solidFill>
                            <a:srgbClr val="52514E"/>
                          </a:solidFill>
                          <a:latin typeface="Calibri"/>
                        </a:rPr>
                        <a:t>W6</a:t>
                      </a:r>
                    </a:p>
                  </a:txBody>
                  <a:tcPr marL="54864" marR="54864" marT="18288" marB="18288">
                    <a:solidFill>
                      <a:srgbClr val="F2F5FA"/>
                    </a:solidFill>
                  </a:tcPr>
                </a:tc>
              </a:tr>
              <a:tr h="339634">
                <a:tc>
                  <a:txBody>
                    <a:bodyPr/>
                    <a:lstStyle/>
                    <a:p>
                      <a:pPr algn="l"/>
                      <a:r>
                        <a:rPr sz="1050" b="0">
                          <a:solidFill>
                            <a:srgbClr val="52514E"/>
                          </a:solidFill>
                          <a:latin typeface="Calibri"/>
                        </a:rPr>
                        <a:t>AMDC</a:t>
                      </a:r>
                    </a:p>
                  </a:txBody>
                  <a:tcPr marL="54864" marR="54864" marT="18288" marB="18288">
                    <a:solidFill>
                      <a:srgbClr val="FFFFFF"/>
                    </a:solidFill>
                  </a:tcPr>
                </a:tc>
                <a:tc>
                  <a:txBody>
                    <a:bodyPr/>
                    <a:lstStyle/>
                    <a:p>
                      <a:pPr algn="l"/>
                      <a:r>
                        <a:rPr sz="1050" b="0">
                          <a:solidFill>
                            <a:srgbClr val="52514E"/>
                          </a:solidFill>
                          <a:latin typeface="Calibri"/>
                        </a:rPr>
                        <a:t>Aido Rover</a:t>
                      </a:r>
                    </a:p>
                  </a:txBody>
                  <a:tcPr marL="54864" marR="54864" marT="18288" marB="18288">
                    <a:solidFill>
                      <a:srgbClr val="FFFFFF"/>
                    </a:solidFill>
                  </a:tcPr>
                </a:tc>
                <a:tc>
                  <a:txBody>
                    <a:bodyPr/>
                    <a:lstStyle/>
                    <a:p>
                      <a:pPr algn="l"/>
                      <a:r>
                        <a:rPr sz="1050" b="0">
                          <a:solidFill>
                            <a:srgbClr val="52514E"/>
                          </a:solidFill>
                          <a:latin typeface="Calibri"/>
                        </a:rPr>
                        <a:t>cross-channel feature evidence and SHAP attribution</a:t>
                      </a:r>
                    </a:p>
                  </a:txBody>
                  <a:tcPr marL="54864" marR="54864" marT="18288" marB="18288">
                    <a:solidFill>
                      <a:srgbClr val="FFFFFF"/>
                    </a:solidFill>
                  </a:tcPr>
                </a:tc>
                <a:tc>
                  <a:txBody>
                    <a:bodyPr/>
                    <a:lstStyle/>
                    <a:p>
                      <a:pPr algn="l"/>
                      <a:r>
                        <a:rPr sz="1050" b="0">
                          <a:solidFill>
                            <a:srgbClr val="52514E"/>
                          </a:solidFill>
                          <a:latin typeface="Calibri"/>
                        </a:rPr>
                        <a:t>W2 · W7</a:t>
                      </a:r>
                    </a:p>
                  </a:txBody>
                  <a:tcPr marL="54864" marR="54864" marT="18288" marB="18288">
                    <a:solidFill>
                      <a:srgbClr val="FFFFFF"/>
                    </a:solidFill>
                  </a:tcPr>
                </a:tc>
              </a:tr>
              <a:tr h="339634">
                <a:tc>
                  <a:txBody>
                    <a:bodyPr/>
                    <a:lstStyle/>
                    <a:p>
                      <a:pPr algn="l"/>
                      <a:r>
                        <a:rPr sz="1050" b="0">
                          <a:solidFill>
                            <a:srgbClr val="52514E"/>
                          </a:solidFill>
                          <a:latin typeface="Calibri"/>
                        </a:rPr>
                        <a:t>HTD-IRL</a:t>
                      </a:r>
                    </a:p>
                  </a:txBody>
                  <a:tcPr marL="54864" marR="54864" marT="18288" marB="18288">
                    <a:solidFill>
                      <a:srgbClr val="F2F5FA"/>
                    </a:solidFill>
                  </a:tcPr>
                </a:tc>
                <a:tc>
                  <a:txBody>
                    <a:bodyPr/>
                    <a:lstStyle/>
                    <a:p>
                      <a:pPr algn="l"/>
                      <a:r>
                        <a:rPr sz="1050" b="0">
                          <a:solidFill>
                            <a:srgbClr val="52514E"/>
                          </a:solidFill>
                          <a:latin typeface="Calibri"/>
                        </a:rPr>
                        <a:t>Rover · Humanoid</a:t>
                      </a:r>
                    </a:p>
                  </a:txBody>
                  <a:tcPr marL="54864" marR="54864" marT="18288" marB="18288">
                    <a:solidFill>
                      <a:srgbClr val="F2F5FA"/>
                    </a:solidFill>
                  </a:tcPr>
                </a:tc>
                <a:tc>
                  <a:txBody>
                    <a:bodyPr/>
                    <a:lstStyle/>
                    <a:p>
                      <a:pPr algn="l"/>
                      <a:r>
                        <a:rPr sz="1050" b="0">
                          <a:solidFill>
                            <a:srgbClr val="52514E"/>
                          </a:solidFill>
                          <a:latin typeface="Calibri"/>
                        </a:rPr>
                        <a:t>maximum-entropy IRL and a node-level hierarchy</a:t>
                      </a:r>
                    </a:p>
                  </a:txBody>
                  <a:tcPr marL="54864" marR="54864" marT="18288" marB="18288">
                    <a:solidFill>
                      <a:srgbClr val="F2F5FA"/>
                    </a:solidFill>
                  </a:tcPr>
                </a:tc>
                <a:tc>
                  <a:txBody>
                    <a:bodyPr/>
                    <a:lstStyle/>
                    <a:p>
                      <a:pPr algn="l"/>
                      <a:r>
                        <a:rPr sz="1050" b="0">
                          <a:solidFill>
                            <a:srgbClr val="52514E"/>
                          </a:solidFill>
                          <a:latin typeface="Calibri"/>
                        </a:rPr>
                        <a:t>W6</a:t>
                      </a:r>
                    </a:p>
                  </a:txBody>
                  <a:tcPr marL="54864" marR="54864" marT="18288" marB="18288">
                    <a:solidFill>
                      <a:srgbClr val="F2F5FA"/>
                    </a:solidFill>
                  </a:tcPr>
                </a:tc>
              </a:tr>
              <a:tr h="339636">
                <a:tc>
                  <a:txBody>
                    <a:bodyPr/>
                    <a:lstStyle/>
                    <a:p>
                      <a:pPr algn="l"/>
                      <a:r>
                        <a:rPr sz="1050" b="0">
                          <a:solidFill>
                            <a:srgbClr val="52514E"/>
                          </a:solidFill>
                          <a:latin typeface="Calibri"/>
                        </a:rPr>
                        <a:t>CRL-MRS</a:t>
                      </a:r>
                    </a:p>
                  </a:txBody>
                  <a:tcPr marL="54864" marR="54864" marT="18288" marB="18288">
                    <a:solidFill>
                      <a:srgbClr val="FFFFFF"/>
                    </a:solidFill>
                  </a:tcPr>
                </a:tc>
                <a:tc>
                  <a:txBody>
                    <a:bodyPr/>
                    <a:lstStyle/>
                    <a:p>
                      <a:pPr algn="l"/>
                      <a:r>
                        <a:rPr sz="1050" b="0">
                          <a:solidFill>
                            <a:srgbClr val="52514E"/>
                          </a:solidFill>
                          <a:latin typeface="Calibri"/>
                        </a:rPr>
                        <a:t>Aido Rover ×2</a:t>
                      </a:r>
                    </a:p>
                  </a:txBody>
                  <a:tcPr marL="54864" marR="54864" marT="18288" marB="18288">
                    <a:solidFill>
                      <a:srgbClr val="FFFFFF"/>
                    </a:solidFill>
                  </a:tcPr>
                </a:tc>
                <a:tc>
                  <a:txBody>
                    <a:bodyPr/>
                    <a:lstStyle/>
                    <a:p>
                      <a:pPr algn="l"/>
                      <a:r>
                        <a:rPr sz="1050" b="0">
                          <a:solidFill>
                            <a:srgbClr val="52514E"/>
                          </a:solidFill>
                          <a:latin typeface="Calibri"/>
                        </a:rPr>
                        <a:t>two-rover cooperative patrol</a:t>
                      </a:r>
                    </a:p>
                  </a:txBody>
                  <a:tcPr marL="54864" marR="54864" marT="18288" marB="18288">
                    <a:solidFill>
                      <a:srgbClr val="FFFFFF"/>
                    </a:solidFill>
                  </a:tcPr>
                </a:tc>
                <a:tc>
                  <a:txBody>
                    <a:bodyPr/>
                    <a:lstStyle/>
                    <a:p>
                      <a:pPr algn="l"/>
                      <a:r>
                        <a:rPr sz="1050" b="0">
                          <a:solidFill>
                            <a:srgbClr val="52514E"/>
                          </a:solidFill>
                          <a:latin typeface="Calibri"/>
                        </a:rPr>
                        <a:t>W6</a:t>
                      </a:r>
                    </a:p>
                  </a:txBody>
                  <a:tcPr marL="54864" marR="54864" marT="18288" marB="18288">
                    <a:solidFill>
                      <a:srgbClr val="FFFFFF"/>
                    </a:solidFill>
                  </a:tcPr>
                </a:tc>
              </a:tr>
            </a:tbl>
          </a:graphicData>
        </a:graphic>
      </p:graphicFrame>
      <p:sp>
        <p:nvSpPr>
          <p:cNvPr id="8" name="Rounded Rectangle 7"/>
          <p:cNvSpPr/>
          <p:nvPr/>
        </p:nvSpPr>
        <p:spPr>
          <a:xfrm>
            <a:off x="548640" y="4325112"/>
            <a:ext cx="5490972" cy="196596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One substrate under all of it</a:t>
            </a:r>
          </a:p>
          <a:p>
            <a:pPr algn="just">
              <a:spcAft>
                <a:spcPts val="400"/>
              </a:spcAft>
            </a:pPr>
            <a:r>
              <a:rPr sz="1200" b="0">
                <a:solidFill>
                  <a:srgbClr val="52514E"/>
                </a:solidFill>
                <a:latin typeface="Calibri"/>
              </a:rPr>
              <a:t>A single world core generates the 9-channel Rover stream and the RL environments, so offline and online results describe the same physics. A leakage-safe block split, 23 blocks into 7 folds with a 50-step purge, is read by every classification and sequence model.</a:t>
            </a:r>
          </a:p>
        </p:txBody>
      </p:sp>
      <p:sp>
        <p:nvSpPr>
          <p:cNvPr id="9" name="Rounded Rectangle 8"/>
          <p:cNvSpPr/>
          <p:nvPr/>
        </p:nvSpPr>
        <p:spPr>
          <a:xfrm>
            <a:off x="6149340" y="4325112"/>
            <a:ext cx="5490972" cy="196596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The standard every number is held to</a:t>
            </a:r>
          </a:p>
          <a:p>
            <a:pPr algn="just">
              <a:spcAft>
                <a:spcPts val="400"/>
              </a:spcAft>
            </a:pPr>
            <a:r>
              <a:rPr sz="1200" b="0">
                <a:solidFill>
                  <a:srgbClr val="52514E"/>
                </a:solidFill>
                <a:latin typeface="Calibri"/>
              </a:rPr>
              <a:t>Design choices are tuned on one fold, then the locked configuration is rotated across all seven and only those numbers are reported. Every RL claim carries five training seeds on ten fixed worlds under a paired Wilcoxon test, and near-ties are named as near-ties.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World and fault design</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Week 2 · the procedural site the whole programme runs on, and how a fault is generated rather than injected</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15,000 steps at 10 Hz, 15.1 % anomalous across 72 causal fault events.</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pic>
        <p:nvPicPr>
          <p:cNvPr id="7" name="Picture 6" descr="patrol_trajectory_faults.png"/>
          <p:cNvPicPr>
            <a:picLocks noChangeAspect="1"/>
          </p:cNvPicPr>
          <p:nvPr/>
        </p:nvPicPr>
        <p:blipFill>
          <a:blip r:embed="rId2"/>
          <a:stretch>
            <a:fillRect/>
          </a:stretch>
        </p:blipFill>
        <p:spPr>
          <a:xfrm>
            <a:off x="6823053" y="1783080"/>
            <a:ext cx="4550453" cy="4507992"/>
          </a:xfrm>
          <a:prstGeom prst="rect">
            <a:avLst/>
          </a:prstGeom>
        </p:spPr>
      </p:pic>
      <p:sp>
        <p:nvSpPr>
          <p:cNvPr id="8" name="Rounded Rectangle 7"/>
          <p:cNvSpPr/>
          <p:nvPr/>
        </p:nvSpPr>
        <p:spPr>
          <a:xfrm>
            <a:off x="548640" y="178308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Route and coverage</a:t>
            </a:r>
          </a:p>
          <a:p>
            <a:pPr algn="just">
              <a:spcAft>
                <a:spcPts val="400"/>
              </a:spcAft>
            </a:pPr>
            <a:r>
              <a:rPr sz="1200" b="0">
                <a:solidFill>
                  <a:srgbClr val="52514E"/>
                </a:solidFill>
                <a:latin typeface="Calibri"/>
              </a:rPr>
              <a:t>A boustrophedon main loop of 960 m over eight edges, inset from a 200 m site, with a rejoining detour on each sweep. Eight static obstacles are rejection-sampled clear of every route and detour edge, and four terrain types modulate wheel torque.</a:t>
            </a:r>
          </a:p>
        </p:txBody>
      </p:sp>
      <p:sp>
        <p:nvSpPr>
          <p:cNvPr id="9" name="Rounded Rectangle 8"/>
          <p:cNvSpPr/>
          <p:nvPr/>
        </p:nvSpPr>
        <p:spPr>
          <a:xfrm>
            <a:off x="548640" y="332232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Faults are mechanical, not labels</a:t>
            </a:r>
          </a:p>
          <a:p>
            <a:pPr algn="just">
              <a:spcAft>
                <a:spcPts val="400"/>
              </a:spcAft>
            </a:pPr>
            <a:r>
              <a:rPr sz="1200" b="0">
                <a:solidFill>
                  <a:srgbClr val="52514E"/>
                </a:solidFill>
                <a:latin typeface="Calibri"/>
              </a:rPr>
              <a:t>A slip event spikes one wheel's torque while the other three shed load and displacement drops; a stuck event raises all four together and displacement collapses. Severity is drawn per event, so the fault-to-signal relation is statistical rather than deterministic.</a:t>
            </a:r>
          </a:p>
        </p:txBody>
      </p:sp>
      <p:sp>
        <p:nvSpPr>
          <p:cNvPr id="10" name="Rounded Rectangle 9"/>
          <p:cNvSpPr/>
          <p:nvPr/>
        </p:nvSpPr>
        <p:spPr>
          <a:xfrm>
            <a:off x="548640" y="486156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Why this shapes everything downstream</a:t>
            </a:r>
          </a:p>
          <a:p>
            <a:pPr algn="just">
              <a:spcAft>
                <a:spcPts val="400"/>
              </a:spcAft>
            </a:pPr>
            <a:r>
              <a:rPr sz="1200" b="0">
                <a:solidFill>
                  <a:srgbClr val="52514E"/>
                </a:solidFill>
                <a:latin typeface="Calibri"/>
              </a:rPr>
              <a:t>Faults appear as runs along the path rather than isolated points, which is why the split is cut into blocks and purged, and why both mechanisms are cross-channel relations that a per-channel view cannot express.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Preprocessing, features and the classical benchmark</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Week 2 · FFT on the four torque channels and LiDAR · PCA 40 → 19 at 95.14 % variance · RandomForest on the canonical split</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Two cross-channel features moved test F1 from 0.553 to 0.823, the largest single effect of the programme.</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pic>
        <p:nvPicPr>
          <p:cNvPr id="7" name="Picture 6" descr="rf_feature_selection_0.png"/>
          <p:cNvPicPr>
            <a:picLocks noChangeAspect="1"/>
          </p:cNvPicPr>
          <p:nvPr/>
        </p:nvPicPr>
        <p:blipFill>
          <a:blip r:embed="rId2"/>
          <a:stretch>
            <a:fillRect/>
          </a:stretch>
        </p:blipFill>
        <p:spPr>
          <a:xfrm>
            <a:off x="2393162" y="1783080"/>
            <a:ext cx="7405370" cy="2240280"/>
          </a:xfrm>
          <a:prstGeom prst="rect">
            <a:avLst/>
          </a:prstGeom>
        </p:spPr>
      </p:pic>
      <p:graphicFrame>
        <p:nvGraphicFramePr>
          <p:cNvPr id="8" name="Table 7"/>
          <p:cNvGraphicFramePr>
            <a:graphicFrameLocks noGrp="1"/>
          </p:cNvGraphicFramePr>
          <p:nvPr/>
        </p:nvGraphicFramePr>
        <p:xfrm>
          <a:off x="548640" y="4187952"/>
          <a:ext cx="11091670" cy="868680"/>
        </p:xfrm>
        <a:graphic>
          <a:graphicData uri="http://schemas.openxmlformats.org/drawingml/2006/table">
            <a:tbl>
              <a:tblPr firstRow="1" bandRow="1">
                <a:tableStyleId>{5C22544A-7EE6-4342-B048-85BDC9FD1C3A}</a:tableStyleId>
              </a:tblPr>
              <a:tblGrid>
                <a:gridCol w="6616085"/>
                <a:gridCol w="1556725"/>
                <a:gridCol w="1556725"/>
                <a:gridCol w="1362135"/>
              </a:tblGrid>
              <a:tr h="289560">
                <a:tc>
                  <a:txBody>
                    <a:bodyPr/>
                    <a:lstStyle/>
                    <a:p>
                      <a:pPr algn="l"/>
                      <a:r>
                        <a:rPr sz="1050" b="1">
                          <a:solidFill>
                            <a:srgbClr val="FFFFFF"/>
                          </a:solidFill>
                          <a:latin typeface="Calibri"/>
                        </a:rPr>
                        <a:t>Feature matrix</a:t>
                      </a:r>
                    </a:p>
                  </a:txBody>
                  <a:tcPr marL="54864" marR="54864" marT="18288" marB="18288">
                    <a:solidFill>
                      <a:srgbClr val="1C5CAB"/>
                    </a:solidFill>
                  </a:tcPr>
                </a:tc>
                <a:tc>
                  <a:txBody>
                    <a:bodyPr/>
                    <a:lstStyle/>
                    <a:p>
                      <a:pPr algn="l"/>
                      <a:r>
                        <a:rPr sz="1050" b="1">
                          <a:solidFill>
                            <a:srgbClr val="FFFFFF"/>
                          </a:solidFill>
                          <a:latin typeface="Calibri"/>
                        </a:rPr>
                        <a:t>F1 @ 0.50</a:t>
                      </a:r>
                    </a:p>
                  </a:txBody>
                  <a:tcPr marL="54864" marR="54864" marT="18288" marB="18288">
                    <a:solidFill>
                      <a:srgbClr val="1C5CAB"/>
                    </a:solidFill>
                  </a:tcPr>
                </a:tc>
                <a:tc>
                  <a:txBody>
                    <a:bodyPr/>
                    <a:lstStyle/>
                    <a:p>
                      <a:pPr algn="l"/>
                      <a:r>
                        <a:rPr sz="1050" b="1">
                          <a:solidFill>
                            <a:srgbClr val="FFFFFF"/>
                          </a:solidFill>
                          <a:latin typeface="Calibri"/>
                        </a:rPr>
                        <a:t>F1 tuned</a:t>
                      </a:r>
                    </a:p>
                  </a:txBody>
                  <a:tcPr marL="54864" marR="54864" marT="18288" marB="18288">
                    <a:solidFill>
                      <a:srgbClr val="1C5CAB"/>
                    </a:solidFill>
                  </a:tcPr>
                </a:tc>
                <a:tc>
                  <a:txBody>
                    <a:bodyPr/>
                    <a:lstStyle/>
                    <a:p>
                      <a:pPr algn="l"/>
                      <a:r>
                        <a:rPr sz="1050" b="1">
                          <a:solidFill>
                            <a:srgbClr val="FFFFFF"/>
                          </a:solidFill>
                          <a:latin typeface="Calibri"/>
                        </a:rPr>
                        <a:t>AUC</a:t>
                      </a:r>
                    </a:p>
                  </a:txBody>
                  <a:tcPr marL="54864" marR="54864" marT="18288" marB="18288">
                    <a:solidFill>
                      <a:srgbClr val="1C5CAB"/>
                    </a:solidFill>
                  </a:tcPr>
                </a:tc>
              </a:tr>
              <a:tr h="289560">
                <a:tc>
                  <a:txBody>
                    <a:bodyPr/>
                    <a:lstStyle/>
                    <a:p>
                      <a:pPr algn="l"/>
                      <a:r>
                        <a:rPr sz="1050" b="0">
                          <a:solidFill>
                            <a:srgbClr val="52514E"/>
                          </a:solidFill>
                          <a:latin typeface="Calibri"/>
                        </a:rPr>
                        <a:t>34-D  raw channels + FFT descriptors</a:t>
                      </a:r>
                    </a:p>
                  </a:txBody>
                  <a:tcPr marL="54864" marR="54864" marT="18288" marB="18288">
                    <a:solidFill>
                      <a:srgbClr val="F2F5FA"/>
                    </a:solidFill>
                  </a:tcPr>
                </a:tc>
                <a:tc>
                  <a:txBody>
                    <a:bodyPr/>
                    <a:lstStyle/>
                    <a:p>
                      <a:pPr algn="l"/>
                      <a:r>
                        <a:rPr sz="1050" b="0">
                          <a:solidFill>
                            <a:srgbClr val="52514E"/>
                          </a:solidFill>
                          <a:latin typeface="Calibri"/>
                        </a:rPr>
                        <a:t>0.5528</a:t>
                      </a:r>
                    </a:p>
                  </a:txBody>
                  <a:tcPr marL="54864" marR="54864" marT="18288" marB="18288">
                    <a:solidFill>
                      <a:srgbClr val="F2F5FA"/>
                    </a:solidFill>
                  </a:tcPr>
                </a:tc>
                <a:tc>
                  <a:txBody>
                    <a:bodyPr/>
                    <a:lstStyle/>
                    <a:p>
                      <a:pPr algn="l"/>
                      <a:r>
                        <a:rPr sz="1050" b="0">
                          <a:solidFill>
                            <a:srgbClr val="52514E"/>
                          </a:solidFill>
                          <a:latin typeface="Calibri"/>
                        </a:rPr>
                        <a:t>0.4991</a:t>
                      </a:r>
                    </a:p>
                  </a:txBody>
                  <a:tcPr marL="54864" marR="54864" marT="18288" marB="18288">
                    <a:solidFill>
                      <a:srgbClr val="F2F5FA"/>
                    </a:solidFill>
                  </a:tcPr>
                </a:tc>
                <a:tc>
                  <a:txBody>
                    <a:bodyPr/>
                    <a:lstStyle/>
                    <a:p>
                      <a:pPr algn="l"/>
                      <a:r>
                        <a:rPr sz="1050" b="0">
                          <a:solidFill>
                            <a:srgbClr val="52514E"/>
                          </a:solidFill>
                          <a:latin typeface="Calibri"/>
                        </a:rPr>
                        <a:t>0.8739</a:t>
                      </a:r>
                    </a:p>
                  </a:txBody>
                  <a:tcPr marL="54864" marR="54864" marT="18288" marB="18288">
                    <a:solidFill>
                      <a:srgbClr val="F2F5FA"/>
                    </a:solidFill>
                  </a:tcPr>
                </a:tc>
              </a:tr>
              <a:tr h="289560">
                <a:tc>
                  <a:txBody>
                    <a:bodyPr/>
                    <a:lstStyle/>
                    <a:p>
                      <a:pPr algn="l"/>
                      <a:r>
                        <a:rPr sz="1050" b="0">
                          <a:solidFill>
                            <a:srgbClr val="52514E"/>
                          </a:solidFill>
                          <a:latin typeface="Calibri"/>
                        </a:rPr>
                        <a:t>40-D  + inter-wheel dispersion, stall ratio</a:t>
                      </a:r>
                    </a:p>
                  </a:txBody>
                  <a:tcPr marL="54864" marR="54864" marT="18288" marB="18288">
                    <a:solidFill>
                      <a:srgbClr val="FFFFFF"/>
                    </a:solidFill>
                  </a:tcPr>
                </a:tc>
                <a:tc>
                  <a:txBody>
                    <a:bodyPr/>
                    <a:lstStyle/>
                    <a:p>
                      <a:pPr algn="l"/>
                      <a:r>
                        <a:rPr sz="1050" b="0">
                          <a:solidFill>
                            <a:srgbClr val="52514E"/>
                          </a:solidFill>
                          <a:latin typeface="Calibri"/>
                        </a:rPr>
                        <a:t>0.8225</a:t>
                      </a:r>
                    </a:p>
                  </a:txBody>
                  <a:tcPr marL="54864" marR="54864" marT="18288" marB="18288">
                    <a:solidFill>
                      <a:srgbClr val="FFFFFF"/>
                    </a:solidFill>
                  </a:tcPr>
                </a:tc>
                <a:tc>
                  <a:txBody>
                    <a:bodyPr/>
                    <a:lstStyle/>
                    <a:p>
                      <a:pPr algn="l"/>
                      <a:r>
                        <a:rPr sz="1050" b="0">
                          <a:solidFill>
                            <a:srgbClr val="52514E"/>
                          </a:solidFill>
                          <a:latin typeface="Calibri"/>
                        </a:rPr>
                        <a:t>0.8471</a:t>
                      </a:r>
                    </a:p>
                  </a:txBody>
                  <a:tcPr marL="54864" marR="54864" marT="18288" marB="18288">
                    <a:solidFill>
                      <a:srgbClr val="FFFFFF"/>
                    </a:solidFill>
                  </a:tcPr>
                </a:tc>
                <a:tc>
                  <a:txBody>
                    <a:bodyPr/>
                    <a:lstStyle/>
                    <a:p>
                      <a:pPr algn="l"/>
                      <a:r>
                        <a:rPr sz="1050" b="0">
                          <a:solidFill>
                            <a:srgbClr val="52514E"/>
                          </a:solidFill>
                          <a:latin typeface="Calibri"/>
                        </a:rPr>
                        <a:t>0.9796</a:t>
                      </a:r>
                    </a:p>
                  </a:txBody>
                  <a:tcPr marL="54864" marR="54864" marT="18288" marB="18288">
                    <a:solidFill>
                      <a:srgbClr val="FFFFFF"/>
                    </a:solidFill>
                  </a:tcPr>
                </a:tc>
              </a:tr>
            </a:tbl>
          </a:graphicData>
        </a:graphic>
      </p:graphicFrame>
      <p:sp>
        <p:nvSpPr>
          <p:cNvPr id="9" name="Rounded Rectangle 8"/>
          <p:cNvSpPr/>
          <p:nvPr/>
        </p:nvSpPr>
        <p:spPr>
          <a:xfrm>
            <a:off x="548640" y="5221224"/>
            <a:ext cx="3624072" cy="1069848"/>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The cross-channel finding</a:t>
            </a:r>
          </a:p>
          <a:p>
            <a:pPr algn="just">
              <a:spcAft>
                <a:spcPts val="400"/>
              </a:spcAft>
            </a:pPr>
            <a:r>
              <a:rPr sz="1200" b="0">
                <a:solidFill>
                  <a:srgbClr val="52514E"/>
                </a:solidFill>
                <a:latin typeface="Calibri"/>
              </a:rPr>
              <a:t>Slip is one wheel against the other three, stuck is effort against absent motion. Neither has a signature in any single channel.</a:t>
            </a:r>
          </a:p>
        </p:txBody>
      </p:sp>
      <p:sp>
        <p:nvSpPr>
          <p:cNvPr id="10" name="Rounded Rectangle 9"/>
          <p:cNvSpPr/>
          <p:nvPr/>
        </p:nvSpPr>
        <p:spPr>
          <a:xfrm>
            <a:off x="4282440" y="5221224"/>
            <a:ext cx="3624072" cy="1069848"/>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Selection is flat beyond five components</a:t>
            </a:r>
          </a:p>
          <a:p>
            <a:pPr algn="just">
              <a:spcAft>
                <a:spcPts val="400"/>
              </a:spcAft>
            </a:pPr>
            <a:r>
              <a:rPr sz="1200" b="0">
                <a:solidFill>
                  <a:srgbClr val="52514E"/>
                </a:solidFill>
                <a:latin typeface="Calibri"/>
              </a:rPr>
              <a:t>Importance ranks the 19 components (left) and validation F1 plateaus at K = 5 (right).</a:t>
            </a:r>
          </a:p>
        </p:txBody>
      </p:sp>
      <p:sp>
        <p:nvSpPr>
          <p:cNvPr id="11" name="Rounded Rectangle 10"/>
          <p:cNvSpPr/>
          <p:nvPr/>
        </p:nvSpPr>
        <p:spPr>
          <a:xfrm>
            <a:off x="8016240" y="5221224"/>
            <a:ext cx="3624072" cy="1069848"/>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The classical benchmark</a:t>
            </a:r>
          </a:p>
          <a:p>
            <a:pPr algn="just">
              <a:spcAft>
                <a:spcPts val="400"/>
              </a:spcAft>
            </a:pPr>
            <a:r>
              <a:rPr sz="1200" b="0">
                <a:solidFill>
                  <a:srgbClr val="52514E"/>
                </a:solidFill>
                <a:latin typeface="Calibri"/>
              </a:rPr>
              <a:t>The deployed 200-tree forest reaches 0.749 ± 0.048 at 7.9–9.0 ms: a clear pass on the 100 ms gate, and 87 % of the 10 ms breach tier.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Supervised model comparison</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Week 3 · six families on one split, identical folds and seeds · 7-fold block-rotation mean ± std</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The MLP is the pick; the Transformer's 0.829 is not significant (p = 0.34) and collapses to 0.760 when parameter-matched.</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pic>
        <p:nvPicPr>
          <p:cNvPr id="7" name="Picture 6" descr="fold_spread_six_models.png"/>
          <p:cNvPicPr>
            <a:picLocks noChangeAspect="1"/>
          </p:cNvPicPr>
          <p:nvPr/>
        </p:nvPicPr>
        <p:blipFill>
          <a:blip r:embed="rId2"/>
          <a:stretch>
            <a:fillRect/>
          </a:stretch>
        </p:blipFill>
        <p:spPr>
          <a:xfrm>
            <a:off x="6355080" y="1783080"/>
            <a:ext cx="5486400" cy="2485061"/>
          </a:xfrm>
          <a:prstGeom prst="rect">
            <a:avLst/>
          </a:prstGeom>
        </p:spPr>
      </p:pic>
      <p:graphicFrame>
        <p:nvGraphicFramePr>
          <p:cNvPr id="8" name="Table 7"/>
          <p:cNvGraphicFramePr>
            <a:graphicFrameLocks noGrp="1"/>
          </p:cNvGraphicFramePr>
          <p:nvPr/>
        </p:nvGraphicFramePr>
        <p:xfrm>
          <a:off x="548640" y="1783080"/>
          <a:ext cx="5623558" cy="1965960"/>
        </p:xfrm>
        <a:graphic>
          <a:graphicData uri="http://schemas.openxmlformats.org/drawingml/2006/table">
            <a:tbl>
              <a:tblPr firstRow="1" bandRow="1">
                <a:tableStyleId>{5C22544A-7EE6-4342-B048-85BDC9FD1C3A}</a:tableStyleId>
              </a:tblPr>
              <a:tblGrid>
                <a:gridCol w="1794753"/>
                <a:gridCol w="1555452"/>
                <a:gridCol w="1196502"/>
                <a:gridCol w="1076851"/>
              </a:tblGrid>
              <a:tr h="280851">
                <a:tc>
                  <a:txBody>
                    <a:bodyPr/>
                    <a:lstStyle/>
                    <a:p>
                      <a:pPr algn="l"/>
                      <a:r>
                        <a:rPr sz="1050" b="1">
                          <a:solidFill>
                            <a:srgbClr val="FFFFFF"/>
                          </a:solidFill>
                          <a:latin typeface="Calibri"/>
                        </a:rPr>
                        <a:t>Model</a:t>
                      </a:r>
                    </a:p>
                  </a:txBody>
                  <a:tcPr marL="54864" marR="54864" marT="18288" marB="18288">
                    <a:solidFill>
                      <a:srgbClr val="1C5CAB"/>
                    </a:solidFill>
                  </a:tcPr>
                </a:tc>
                <a:tc>
                  <a:txBody>
                    <a:bodyPr/>
                    <a:lstStyle/>
                    <a:p>
                      <a:pPr algn="l"/>
                      <a:r>
                        <a:rPr sz="1050" b="1">
                          <a:solidFill>
                            <a:srgbClr val="FFFFFF"/>
                          </a:solidFill>
                          <a:latin typeface="Calibri"/>
                        </a:rPr>
                        <a:t>F1 (7-fold)</a:t>
                      </a:r>
                    </a:p>
                  </a:txBody>
                  <a:tcPr marL="54864" marR="54864" marT="18288" marB="18288">
                    <a:solidFill>
                      <a:srgbClr val="1C5CAB"/>
                    </a:solidFill>
                  </a:tcPr>
                </a:tc>
                <a:tc>
                  <a:txBody>
                    <a:bodyPr/>
                    <a:lstStyle/>
                    <a:p>
                      <a:pPr algn="l"/>
                      <a:r>
                        <a:rPr sz="1050" b="1">
                          <a:solidFill>
                            <a:srgbClr val="FFFFFF"/>
                          </a:solidFill>
                          <a:latin typeface="Calibri"/>
                        </a:rPr>
                        <a:t>worst fold</a:t>
                      </a:r>
                    </a:p>
                  </a:txBody>
                  <a:tcPr marL="54864" marR="54864" marT="18288" marB="18288">
                    <a:solidFill>
                      <a:srgbClr val="1C5CAB"/>
                    </a:solidFill>
                  </a:tcPr>
                </a:tc>
                <a:tc>
                  <a:txBody>
                    <a:bodyPr/>
                    <a:lstStyle/>
                    <a:p>
                      <a:pPr algn="l"/>
                      <a:r>
                        <a:rPr sz="1050" b="1">
                          <a:solidFill>
                            <a:srgbClr val="FFFFFF"/>
                          </a:solidFill>
                          <a:latin typeface="Calibri"/>
                        </a:rPr>
                        <a:t>latency</a:t>
                      </a:r>
                    </a:p>
                  </a:txBody>
                  <a:tcPr marL="54864" marR="54864" marT="18288" marB="18288">
                    <a:solidFill>
                      <a:srgbClr val="1C5CAB"/>
                    </a:solidFill>
                  </a:tcPr>
                </a:tc>
              </a:tr>
              <a:tr h="280851">
                <a:tc>
                  <a:txBody>
                    <a:bodyPr/>
                    <a:lstStyle/>
                    <a:p>
                      <a:pPr algn="l"/>
                      <a:r>
                        <a:rPr sz="1050" b="0">
                          <a:solidFill>
                            <a:srgbClr val="52514E"/>
                          </a:solidFill>
                          <a:latin typeface="Calibri"/>
                        </a:rPr>
                        <a:t>MLP</a:t>
                      </a:r>
                    </a:p>
                  </a:txBody>
                  <a:tcPr marL="54864" marR="54864" marT="18288" marB="18288">
                    <a:solidFill>
                      <a:srgbClr val="F2F5FA"/>
                    </a:solidFill>
                  </a:tcPr>
                </a:tc>
                <a:tc>
                  <a:txBody>
                    <a:bodyPr/>
                    <a:lstStyle/>
                    <a:p>
                      <a:pPr algn="l"/>
                      <a:r>
                        <a:rPr sz="1050" b="0">
                          <a:solidFill>
                            <a:srgbClr val="52514E"/>
                          </a:solidFill>
                          <a:latin typeface="Calibri"/>
                        </a:rPr>
                        <a:t>0.794 ± 0.047</a:t>
                      </a:r>
                    </a:p>
                  </a:txBody>
                  <a:tcPr marL="54864" marR="54864" marT="18288" marB="18288">
                    <a:solidFill>
                      <a:srgbClr val="F2F5FA"/>
                    </a:solidFill>
                  </a:tcPr>
                </a:tc>
                <a:tc>
                  <a:txBody>
                    <a:bodyPr/>
                    <a:lstStyle/>
                    <a:p>
                      <a:pPr algn="l"/>
                      <a:r>
                        <a:rPr sz="1050" b="0">
                          <a:solidFill>
                            <a:srgbClr val="52514E"/>
                          </a:solidFill>
                          <a:latin typeface="Calibri"/>
                        </a:rPr>
                        <a:t>0.736</a:t>
                      </a:r>
                    </a:p>
                  </a:txBody>
                  <a:tcPr marL="54864" marR="54864" marT="18288" marB="18288">
                    <a:solidFill>
                      <a:srgbClr val="F2F5FA"/>
                    </a:solidFill>
                  </a:tcPr>
                </a:tc>
                <a:tc>
                  <a:txBody>
                    <a:bodyPr/>
                    <a:lstStyle/>
                    <a:p>
                      <a:pPr algn="l"/>
                      <a:r>
                        <a:rPr sz="1050" b="0">
                          <a:solidFill>
                            <a:srgbClr val="52514E"/>
                          </a:solidFill>
                          <a:latin typeface="Calibri"/>
                        </a:rPr>
                        <a:t>0.14 ms</a:t>
                      </a:r>
                    </a:p>
                  </a:txBody>
                  <a:tcPr marL="54864" marR="54864" marT="18288" marB="18288">
                    <a:solidFill>
                      <a:srgbClr val="F2F5FA"/>
                    </a:solidFill>
                  </a:tcPr>
                </a:tc>
              </a:tr>
              <a:tr h="280851">
                <a:tc>
                  <a:txBody>
                    <a:bodyPr/>
                    <a:lstStyle/>
                    <a:p>
                      <a:pPr algn="l"/>
                      <a:r>
                        <a:rPr sz="1050" b="0">
                          <a:solidFill>
                            <a:srgbClr val="52514E"/>
                          </a:solidFill>
                          <a:latin typeface="Calibri"/>
                        </a:rPr>
                        <a:t>Transformer</a:t>
                      </a:r>
                    </a:p>
                  </a:txBody>
                  <a:tcPr marL="54864" marR="54864" marT="18288" marB="18288">
                    <a:solidFill>
                      <a:srgbClr val="FFFFFF"/>
                    </a:solidFill>
                  </a:tcPr>
                </a:tc>
                <a:tc>
                  <a:txBody>
                    <a:bodyPr/>
                    <a:lstStyle/>
                    <a:p>
                      <a:pPr algn="l"/>
                      <a:r>
                        <a:rPr sz="1050" b="0">
                          <a:solidFill>
                            <a:srgbClr val="52514E"/>
                          </a:solidFill>
                          <a:latin typeface="Calibri"/>
                        </a:rPr>
                        <a:t>0.829 ± 0.069</a:t>
                      </a:r>
                    </a:p>
                  </a:txBody>
                  <a:tcPr marL="54864" marR="54864" marT="18288" marB="18288">
                    <a:solidFill>
                      <a:srgbClr val="FFFFFF"/>
                    </a:solidFill>
                  </a:tcPr>
                </a:tc>
                <a:tc>
                  <a:txBody>
                    <a:bodyPr/>
                    <a:lstStyle/>
                    <a:p>
                      <a:pPr algn="l"/>
                      <a:r>
                        <a:rPr sz="1050" b="0">
                          <a:solidFill>
                            <a:srgbClr val="52514E"/>
                          </a:solidFill>
                          <a:latin typeface="Calibri"/>
                        </a:rPr>
                        <a:t>0.690</a:t>
                      </a:r>
                    </a:p>
                  </a:txBody>
                  <a:tcPr marL="54864" marR="54864" marT="18288" marB="18288">
                    <a:solidFill>
                      <a:srgbClr val="FFFFFF"/>
                    </a:solidFill>
                  </a:tcPr>
                </a:tc>
                <a:tc>
                  <a:txBody>
                    <a:bodyPr/>
                    <a:lstStyle/>
                    <a:p>
                      <a:pPr algn="l"/>
                      <a:r>
                        <a:rPr sz="1050" b="0">
                          <a:solidFill>
                            <a:srgbClr val="52514E"/>
                          </a:solidFill>
                          <a:latin typeface="Calibri"/>
                        </a:rPr>
                        <a:t>0.44 ms</a:t>
                      </a:r>
                    </a:p>
                  </a:txBody>
                  <a:tcPr marL="54864" marR="54864" marT="18288" marB="18288">
                    <a:solidFill>
                      <a:srgbClr val="FFFFFF"/>
                    </a:solidFill>
                  </a:tcPr>
                </a:tc>
              </a:tr>
              <a:tr h="280851">
                <a:tc>
                  <a:txBody>
                    <a:bodyPr/>
                    <a:lstStyle/>
                    <a:p>
                      <a:pPr algn="l"/>
                      <a:r>
                        <a:rPr sz="1050" b="0">
                          <a:solidFill>
                            <a:srgbClr val="52514E"/>
                          </a:solidFill>
                          <a:latin typeface="Calibri"/>
                        </a:rPr>
                        <a:t>GRU</a:t>
                      </a:r>
                    </a:p>
                  </a:txBody>
                  <a:tcPr marL="54864" marR="54864" marT="18288" marB="18288">
                    <a:solidFill>
                      <a:srgbClr val="F2F5FA"/>
                    </a:solidFill>
                  </a:tcPr>
                </a:tc>
                <a:tc>
                  <a:txBody>
                    <a:bodyPr/>
                    <a:lstStyle/>
                    <a:p>
                      <a:pPr algn="l"/>
                      <a:r>
                        <a:rPr sz="1050" b="0">
                          <a:solidFill>
                            <a:srgbClr val="52514E"/>
                          </a:solidFill>
                          <a:latin typeface="Calibri"/>
                        </a:rPr>
                        <a:t>0.747 ± 0.082</a:t>
                      </a:r>
                    </a:p>
                  </a:txBody>
                  <a:tcPr marL="54864" marR="54864" marT="18288" marB="18288">
                    <a:solidFill>
                      <a:srgbClr val="F2F5FA"/>
                    </a:solidFill>
                  </a:tcPr>
                </a:tc>
                <a:tc>
                  <a:txBody>
                    <a:bodyPr/>
                    <a:lstStyle/>
                    <a:p>
                      <a:pPr algn="l"/>
                      <a:r>
                        <a:rPr sz="1050" b="0">
                          <a:solidFill>
                            <a:srgbClr val="52514E"/>
                          </a:solidFill>
                          <a:latin typeface="Calibri"/>
                        </a:rPr>
                        <a:t>0.602</a:t>
                      </a:r>
                    </a:p>
                  </a:txBody>
                  <a:tcPr marL="54864" marR="54864" marT="18288" marB="18288">
                    <a:solidFill>
                      <a:srgbClr val="F2F5FA"/>
                    </a:solidFill>
                  </a:tcPr>
                </a:tc>
                <a:tc>
                  <a:txBody>
                    <a:bodyPr/>
                    <a:lstStyle/>
                    <a:p>
                      <a:pPr algn="l"/>
                      <a:r>
                        <a:rPr sz="1050" b="0">
                          <a:solidFill>
                            <a:srgbClr val="52514E"/>
                          </a:solidFill>
                          <a:latin typeface="Calibri"/>
                        </a:rPr>
                        <a:t>0.62 ms</a:t>
                      </a:r>
                    </a:p>
                  </a:txBody>
                  <a:tcPr marL="54864" marR="54864" marT="18288" marB="18288">
                    <a:solidFill>
                      <a:srgbClr val="F2F5FA"/>
                    </a:solidFill>
                  </a:tcPr>
                </a:tc>
              </a:tr>
              <a:tr h="280851">
                <a:tc>
                  <a:txBody>
                    <a:bodyPr/>
                    <a:lstStyle/>
                    <a:p>
                      <a:pPr algn="l"/>
                      <a:r>
                        <a:rPr sz="1050" b="0">
                          <a:solidFill>
                            <a:srgbClr val="52514E"/>
                          </a:solidFill>
                          <a:latin typeface="Calibri"/>
                        </a:rPr>
                        <a:t>RandomForest</a:t>
                      </a:r>
                    </a:p>
                  </a:txBody>
                  <a:tcPr marL="54864" marR="54864" marT="18288" marB="18288">
                    <a:solidFill>
                      <a:srgbClr val="FFFFFF"/>
                    </a:solidFill>
                  </a:tcPr>
                </a:tc>
                <a:tc>
                  <a:txBody>
                    <a:bodyPr/>
                    <a:lstStyle/>
                    <a:p>
                      <a:pPr algn="l"/>
                      <a:r>
                        <a:rPr sz="1050" b="0">
                          <a:solidFill>
                            <a:srgbClr val="52514E"/>
                          </a:solidFill>
                          <a:latin typeface="Calibri"/>
                        </a:rPr>
                        <a:t>0.749 ± 0.048</a:t>
                      </a:r>
                    </a:p>
                  </a:txBody>
                  <a:tcPr marL="54864" marR="54864" marT="18288" marB="18288">
                    <a:solidFill>
                      <a:srgbClr val="FFFFFF"/>
                    </a:solidFill>
                  </a:tcPr>
                </a:tc>
                <a:tc>
                  <a:txBody>
                    <a:bodyPr/>
                    <a:lstStyle/>
                    <a:p>
                      <a:pPr algn="l"/>
                      <a:r>
                        <a:rPr sz="1050" b="0">
                          <a:solidFill>
                            <a:srgbClr val="52514E"/>
                          </a:solidFill>
                          <a:latin typeface="Calibri"/>
                        </a:rPr>
                        <a:t>0.697</a:t>
                      </a:r>
                    </a:p>
                  </a:txBody>
                  <a:tcPr marL="54864" marR="54864" marT="18288" marB="18288">
                    <a:solidFill>
                      <a:srgbClr val="FFFFFF"/>
                    </a:solidFill>
                  </a:tcPr>
                </a:tc>
                <a:tc>
                  <a:txBody>
                    <a:bodyPr/>
                    <a:lstStyle/>
                    <a:p>
                      <a:pPr algn="l"/>
                      <a:r>
                        <a:rPr sz="1050" b="0">
                          <a:solidFill>
                            <a:srgbClr val="52514E"/>
                          </a:solidFill>
                          <a:latin typeface="Calibri"/>
                        </a:rPr>
                        <a:t>7.9 ms</a:t>
                      </a:r>
                    </a:p>
                  </a:txBody>
                  <a:tcPr marL="54864" marR="54864" marT="18288" marB="18288">
                    <a:solidFill>
                      <a:srgbClr val="FFFFFF"/>
                    </a:solidFill>
                  </a:tcPr>
                </a:tc>
              </a:tr>
              <a:tr h="280851">
                <a:tc>
                  <a:txBody>
                    <a:bodyPr/>
                    <a:lstStyle/>
                    <a:p>
                      <a:pPr algn="l"/>
                      <a:r>
                        <a:rPr sz="1050" b="0">
                          <a:solidFill>
                            <a:srgbClr val="52514E"/>
                          </a:solidFill>
                          <a:latin typeface="Calibri"/>
                        </a:rPr>
                        <a:t>1D-CNN</a:t>
                      </a:r>
                    </a:p>
                  </a:txBody>
                  <a:tcPr marL="54864" marR="54864" marT="18288" marB="18288">
                    <a:solidFill>
                      <a:srgbClr val="F2F5FA"/>
                    </a:solidFill>
                  </a:tcPr>
                </a:tc>
                <a:tc>
                  <a:txBody>
                    <a:bodyPr/>
                    <a:lstStyle/>
                    <a:p>
                      <a:pPr algn="l"/>
                      <a:r>
                        <a:rPr sz="1050" b="0">
                          <a:solidFill>
                            <a:srgbClr val="52514E"/>
                          </a:solidFill>
                          <a:latin typeface="Calibri"/>
                        </a:rPr>
                        <a:t>0.731 ± 0.115</a:t>
                      </a:r>
                    </a:p>
                  </a:txBody>
                  <a:tcPr marL="54864" marR="54864" marT="18288" marB="18288">
                    <a:solidFill>
                      <a:srgbClr val="F2F5FA"/>
                    </a:solidFill>
                  </a:tcPr>
                </a:tc>
                <a:tc>
                  <a:txBody>
                    <a:bodyPr/>
                    <a:lstStyle/>
                    <a:p>
                      <a:pPr algn="l"/>
                      <a:r>
                        <a:rPr sz="1050" b="0">
                          <a:solidFill>
                            <a:srgbClr val="52514E"/>
                          </a:solidFill>
                          <a:latin typeface="Calibri"/>
                        </a:rPr>
                        <a:t>0.527</a:t>
                      </a:r>
                    </a:p>
                  </a:txBody>
                  <a:tcPr marL="54864" marR="54864" marT="18288" marB="18288">
                    <a:solidFill>
                      <a:srgbClr val="F2F5FA"/>
                    </a:solidFill>
                  </a:tcPr>
                </a:tc>
                <a:tc>
                  <a:txBody>
                    <a:bodyPr/>
                    <a:lstStyle/>
                    <a:p>
                      <a:pPr algn="l"/>
                      <a:r>
                        <a:rPr sz="1050" b="0">
                          <a:solidFill>
                            <a:srgbClr val="52514E"/>
                          </a:solidFill>
                          <a:latin typeface="Calibri"/>
                        </a:rPr>
                        <a:t>0.15 ms</a:t>
                      </a:r>
                    </a:p>
                  </a:txBody>
                  <a:tcPr marL="54864" marR="54864" marT="18288" marB="18288">
                    <a:solidFill>
                      <a:srgbClr val="F2F5FA"/>
                    </a:solidFill>
                  </a:tcPr>
                </a:tc>
              </a:tr>
              <a:tr h="280854">
                <a:tc>
                  <a:txBody>
                    <a:bodyPr/>
                    <a:lstStyle/>
                    <a:p>
                      <a:pPr algn="l"/>
                      <a:r>
                        <a:rPr sz="1050" b="0">
                          <a:solidFill>
                            <a:srgbClr val="52514E"/>
                          </a:solidFill>
                          <a:latin typeface="Calibri"/>
                        </a:rPr>
                        <a:t>LSTM</a:t>
                      </a:r>
                    </a:p>
                  </a:txBody>
                  <a:tcPr marL="54864" marR="54864" marT="18288" marB="18288">
                    <a:solidFill>
                      <a:srgbClr val="FFFFFF"/>
                    </a:solidFill>
                  </a:tcPr>
                </a:tc>
                <a:tc>
                  <a:txBody>
                    <a:bodyPr/>
                    <a:lstStyle/>
                    <a:p>
                      <a:pPr algn="l"/>
                      <a:r>
                        <a:rPr sz="1050" b="0">
                          <a:solidFill>
                            <a:srgbClr val="52514E"/>
                          </a:solidFill>
                          <a:latin typeface="Calibri"/>
                        </a:rPr>
                        <a:t>0.704 ± 0.159</a:t>
                      </a:r>
                    </a:p>
                  </a:txBody>
                  <a:tcPr marL="54864" marR="54864" marT="18288" marB="18288">
                    <a:solidFill>
                      <a:srgbClr val="FFFFFF"/>
                    </a:solidFill>
                  </a:tcPr>
                </a:tc>
                <a:tc>
                  <a:txBody>
                    <a:bodyPr/>
                    <a:lstStyle/>
                    <a:p>
                      <a:pPr algn="l"/>
                      <a:r>
                        <a:rPr sz="1050" b="0">
                          <a:solidFill>
                            <a:srgbClr val="52514E"/>
                          </a:solidFill>
                          <a:latin typeface="Calibri"/>
                        </a:rPr>
                        <a:t>0.386</a:t>
                      </a:r>
                    </a:p>
                  </a:txBody>
                  <a:tcPr marL="54864" marR="54864" marT="18288" marB="18288">
                    <a:solidFill>
                      <a:srgbClr val="FFFFFF"/>
                    </a:solidFill>
                  </a:tcPr>
                </a:tc>
                <a:tc>
                  <a:txBody>
                    <a:bodyPr/>
                    <a:lstStyle/>
                    <a:p>
                      <a:pPr algn="l"/>
                      <a:r>
                        <a:rPr sz="1050" b="0">
                          <a:solidFill>
                            <a:srgbClr val="52514E"/>
                          </a:solidFill>
                          <a:latin typeface="Calibri"/>
                        </a:rPr>
                        <a:t>1.26 ms</a:t>
                      </a:r>
                    </a:p>
                  </a:txBody>
                  <a:tcPr marL="54864" marR="54864" marT="18288" marB="18288">
                    <a:solidFill>
                      <a:srgbClr val="FFFFFF"/>
                    </a:solidFill>
                  </a:tcPr>
                </a:tc>
              </a:tr>
            </a:tbl>
          </a:graphicData>
        </a:graphic>
      </p:graphicFrame>
      <p:sp>
        <p:nvSpPr>
          <p:cNvPr id="9" name="Rounded Rectangle 8"/>
          <p:cNvSpPr/>
          <p:nvPr/>
        </p:nvSpPr>
        <p:spPr>
          <a:xfrm>
            <a:off x="548640" y="3913632"/>
            <a:ext cx="5623560" cy="1133856"/>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Why the MLP and not the higher mean</a:t>
            </a:r>
          </a:p>
          <a:p>
            <a:pPr algn="just">
              <a:spcAft>
                <a:spcPts val="400"/>
              </a:spcAft>
            </a:pPr>
            <a:r>
              <a:rPr sz="1200" b="0">
                <a:solidFill>
                  <a:srgbClr val="52514E"/>
                </a:solidFill>
                <a:latin typeface="Calibri"/>
              </a:rPr>
              <a:t>The two are one equivalence class on a paired test, so the axes inside it decide: lowest fold variance, best worst fold, lowest latency, and the STUM calibration target met raw at 0.025 against 0.031. Matching on width had given the Transformer four times the GRU's parameters, and the matched control ties the GRU at p = 0.76.</a:t>
            </a:r>
          </a:p>
        </p:txBody>
      </p:sp>
      <p:sp>
        <p:nvSpPr>
          <p:cNvPr id="10" name="Rounded Rectangle 9"/>
          <p:cNvSpPr/>
          <p:nvPr/>
        </p:nvSpPr>
        <p:spPr>
          <a:xfrm>
            <a:off x="548640" y="5157216"/>
            <a:ext cx="5623560" cy="1133856"/>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What the spread rules out, and what transfers</a:t>
            </a:r>
          </a:p>
          <a:p>
            <a:pPr algn="just">
              <a:spcAft>
                <a:spcPts val="400"/>
              </a:spcAft>
            </a:pPr>
            <a:r>
              <a:rPr sz="1200" b="0">
                <a:solidFill>
                  <a:srgbClr val="52514E"/>
                </a:solidFill>
                <a:latin typeface="Calibri"/>
              </a:rPr>
              <a:t>The 1D-CNN and LSTM carry the widest fold spreads, and the CNN cannot be refit bit-identically, spanning 0.683 to 0.738 across identical runs. On Fari's tabular task both the forest and the MLP land within 0.04 of a computable Bayes ceiling, so the methodology transfers.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Trajectory prediction</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Week 4 · Aido Humanoid · 10 steps of state to the next 5 waypoints, 0.1 s apart · 5,000 episodes · 5 seeds · 50 ms gate</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The LSTM is best far and linear regression best near: the ranking changes along the horizon.</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pic>
        <p:nvPicPr>
          <p:cNvPr id="7" name="Picture 6" descr="per_horizon_error.png"/>
          <p:cNvPicPr>
            <a:picLocks noChangeAspect="1"/>
          </p:cNvPicPr>
          <p:nvPr/>
        </p:nvPicPr>
        <p:blipFill>
          <a:blip r:embed="rId2"/>
          <a:stretch>
            <a:fillRect/>
          </a:stretch>
        </p:blipFill>
        <p:spPr>
          <a:xfrm>
            <a:off x="6355080" y="1783080"/>
            <a:ext cx="5486400" cy="3526971"/>
          </a:xfrm>
          <a:prstGeom prst="rect">
            <a:avLst/>
          </a:prstGeom>
        </p:spPr>
      </p:pic>
      <p:graphicFrame>
        <p:nvGraphicFramePr>
          <p:cNvPr id="8" name="Table 7"/>
          <p:cNvGraphicFramePr>
            <a:graphicFrameLocks noGrp="1"/>
          </p:cNvGraphicFramePr>
          <p:nvPr/>
        </p:nvGraphicFramePr>
        <p:xfrm>
          <a:off x="548640" y="1783080"/>
          <a:ext cx="5623557" cy="1828800"/>
        </p:xfrm>
        <a:graphic>
          <a:graphicData uri="http://schemas.openxmlformats.org/drawingml/2006/table">
            <a:tbl>
              <a:tblPr firstRow="1" bandRow="1">
                <a:tableStyleId>{5C22544A-7EE6-4342-B048-85BDC9FD1C3A}</a:tableStyleId>
              </a:tblPr>
              <a:tblGrid>
                <a:gridCol w="1622180"/>
                <a:gridCol w="648872"/>
                <a:gridCol w="648872"/>
                <a:gridCol w="648872"/>
                <a:gridCol w="1297744"/>
                <a:gridCol w="757017"/>
              </a:tblGrid>
              <a:tr h="304800">
                <a:tc>
                  <a:txBody>
                    <a:bodyPr/>
                    <a:lstStyle/>
                    <a:p>
                      <a:pPr algn="l"/>
                      <a:r>
                        <a:rPr sz="1000" b="1">
                          <a:solidFill>
                            <a:srgbClr val="FFFFFF"/>
                          </a:solidFill>
                          <a:latin typeface="Calibri"/>
                        </a:rPr>
                        <a:t>Model</a:t>
                      </a:r>
                    </a:p>
                  </a:txBody>
                  <a:tcPr marL="54864" marR="54864" marT="18288" marB="18288">
                    <a:solidFill>
                      <a:srgbClr val="1C5CAB"/>
                    </a:solidFill>
                  </a:tcPr>
                </a:tc>
                <a:tc>
                  <a:txBody>
                    <a:bodyPr/>
                    <a:lstStyle/>
                    <a:p>
                      <a:pPr algn="l"/>
                      <a:r>
                        <a:rPr sz="1000" b="1">
                          <a:solidFill>
                            <a:srgbClr val="FFFFFF"/>
                          </a:solidFill>
                          <a:latin typeface="Calibri"/>
                        </a:rPr>
                        <a:t>h1</a:t>
                      </a:r>
                    </a:p>
                  </a:txBody>
                  <a:tcPr marL="54864" marR="54864" marT="18288" marB="18288">
                    <a:solidFill>
                      <a:srgbClr val="1C5CAB"/>
                    </a:solidFill>
                  </a:tcPr>
                </a:tc>
                <a:tc>
                  <a:txBody>
                    <a:bodyPr/>
                    <a:lstStyle/>
                    <a:p>
                      <a:pPr algn="l"/>
                      <a:r>
                        <a:rPr sz="1000" b="1">
                          <a:solidFill>
                            <a:srgbClr val="FFFFFF"/>
                          </a:solidFill>
                          <a:latin typeface="Calibri"/>
                        </a:rPr>
                        <a:t>h3</a:t>
                      </a:r>
                    </a:p>
                  </a:txBody>
                  <a:tcPr marL="54864" marR="54864" marT="18288" marB="18288">
                    <a:solidFill>
                      <a:srgbClr val="1C5CAB"/>
                    </a:solidFill>
                  </a:tcPr>
                </a:tc>
                <a:tc>
                  <a:txBody>
                    <a:bodyPr/>
                    <a:lstStyle/>
                    <a:p>
                      <a:pPr algn="l"/>
                      <a:r>
                        <a:rPr sz="1000" b="1">
                          <a:solidFill>
                            <a:srgbClr val="FFFFFF"/>
                          </a:solidFill>
                          <a:latin typeface="Calibri"/>
                        </a:rPr>
                        <a:t>h5</a:t>
                      </a:r>
                    </a:p>
                  </a:txBody>
                  <a:tcPr marL="54864" marR="54864" marT="18288" marB="18288">
                    <a:solidFill>
                      <a:srgbClr val="1C5CAB"/>
                    </a:solidFill>
                  </a:tcPr>
                </a:tc>
                <a:tc>
                  <a:txBody>
                    <a:bodyPr/>
                    <a:lstStyle/>
                    <a:p>
                      <a:pPr algn="l"/>
                      <a:r>
                        <a:rPr sz="1000" b="1">
                          <a:solidFill>
                            <a:srgbClr val="FFFFFF"/>
                          </a:solidFill>
                          <a:latin typeface="Calibri"/>
                        </a:rPr>
                        <a:t>mean (cm)</a:t>
                      </a:r>
                    </a:p>
                  </a:txBody>
                  <a:tcPr marL="54864" marR="54864" marT="18288" marB="18288">
                    <a:solidFill>
                      <a:srgbClr val="1C5CAB"/>
                    </a:solidFill>
                  </a:tcPr>
                </a:tc>
                <a:tc>
                  <a:txBody>
                    <a:bodyPr/>
                    <a:lstStyle/>
                    <a:p>
                      <a:pPr algn="l"/>
                      <a:r>
                        <a:rPr sz="1000" b="1">
                          <a:solidFill>
                            <a:srgbClr val="FFFFFF"/>
                          </a:solidFill>
                          <a:latin typeface="Calibri"/>
                        </a:rPr>
                        <a:t>ms</a:t>
                      </a:r>
                    </a:p>
                  </a:txBody>
                  <a:tcPr marL="54864" marR="54864" marT="18288" marB="18288">
                    <a:solidFill>
                      <a:srgbClr val="1C5CAB"/>
                    </a:solidFill>
                  </a:tcPr>
                </a:tc>
              </a:tr>
              <a:tr h="304800">
                <a:tc>
                  <a:txBody>
                    <a:bodyPr/>
                    <a:lstStyle/>
                    <a:p>
                      <a:pPr algn="l"/>
                      <a:r>
                        <a:rPr sz="1000" b="0">
                          <a:solidFill>
                            <a:srgbClr val="52514E"/>
                          </a:solidFill>
                          <a:latin typeface="Calibri"/>
                        </a:rPr>
                        <a:t>CV extrapolation</a:t>
                      </a:r>
                    </a:p>
                  </a:txBody>
                  <a:tcPr marL="54864" marR="54864" marT="18288" marB="18288">
                    <a:solidFill>
                      <a:srgbClr val="F2F5FA"/>
                    </a:solidFill>
                  </a:tcPr>
                </a:tc>
                <a:tc>
                  <a:txBody>
                    <a:bodyPr/>
                    <a:lstStyle/>
                    <a:p>
                      <a:pPr algn="l"/>
                      <a:r>
                        <a:rPr sz="1000" b="0">
                          <a:solidFill>
                            <a:srgbClr val="52514E"/>
                          </a:solidFill>
                          <a:latin typeface="Calibri"/>
                        </a:rPr>
                        <a:t>1.84</a:t>
                      </a:r>
                    </a:p>
                  </a:txBody>
                  <a:tcPr marL="54864" marR="54864" marT="18288" marB="18288">
                    <a:solidFill>
                      <a:srgbClr val="F2F5FA"/>
                    </a:solidFill>
                  </a:tcPr>
                </a:tc>
                <a:tc>
                  <a:txBody>
                    <a:bodyPr/>
                    <a:lstStyle/>
                    <a:p>
                      <a:pPr algn="l"/>
                      <a:r>
                        <a:rPr sz="1000" b="0">
                          <a:solidFill>
                            <a:srgbClr val="52514E"/>
                          </a:solidFill>
                          <a:latin typeface="Calibri"/>
                        </a:rPr>
                        <a:t>2.47</a:t>
                      </a:r>
                    </a:p>
                  </a:txBody>
                  <a:tcPr marL="54864" marR="54864" marT="18288" marB="18288">
                    <a:solidFill>
                      <a:srgbClr val="F2F5FA"/>
                    </a:solidFill>
                  </a:tcPr>
                </a:tc>
                <a:tc>
                  <a:txBody>
                    <a:bodyPr/>
                    <a:lstStyle/>
                    <a:p>
                      <a:pPr algn="l"/>
                      <a:r>
                        <a:rPr sz="1000" b="0">
                          <a:solidFill>
                            <a:srgbClr val="52514E"/>
                          </a:solidFill>
                          <a:latin typeface="Calibri"/>
                        </a:rPr>
                        <a:t>4.28</a:t>
                      </a:r>
                    </a:p>
                  </a:txBody>
                  <a:tcPr marL="54864" marR="54864" marT="18288" marB="18288">
                    <a:solidFill>
                      <a:srgbClr val="F2F5FA"/>
                    </a:solidFill>
                  </a:tcPr>
                </a:tc>
                <a:tc>
                  <a:txBody>
                    <a:bodyPr/>
                    <a:lstStyle/>
                    <a:p>
                      <a:pPr algn="l"/>
                      <a:r>
                        <a:rPr sz="1000" b="0">
                          <a:solidFill>
                            <a:srgbClr val="52514E"/>
                          </a:solidFill>
                          <a:latin typeface="Calibri"/>
                        </a:rPr>
                        <a:t>2.77</a:t>
                      </a:r>
                    </a:p>
                  </a:txBody>
                  <a:tcPr marL="54864" marR="54864" marT="18288" marB="18288">
                    <a:solidFill>
                      <a:srgbClr val="F2F5FA"/>
                    </a:solidFill>
                  </a:tcPr>
                </a:tc>
                <a:tc>
                  <a:txBody>
                    <a:bodyPr/>
                    <a:lstStyle/>
                    <a:p>
                      <a:pPr algn="l"/>
                      <a:r>
                        <a:rPr sz="1000" b="0">
                          <a:solidFill>
                            <a:srgbClr val="52514E"/>
                          </a:solidFill>
                          <a:latin typeface="Calibri"/>
                        </a:rPr>
                        <a:t>0.003</a:t>
                      </a:r>
                    </a:p>
                  </a:txBody>
                  <a:tcPr marL="54864" marR="54864" marT="18288" marB="18288">
                    <a:solidFill>
                      <a:srgbClr val="F2F5FA"/>
                    </a:solidFill>
                  </a:tcPr>
                </a:tc>
              </a:tr>
              <a:tr h="304800">
                <a:tc>
                  <a:txBody>
                    <a:bodyPr/>
                    <a:lstStyle/>
                    <a:p>
                      <a:pPr algn="l"/>
                      <a:r>
                        <a:rPr sz="1000" b="0">
                          <a:solidFill>
                            <a:srgbClr val="52514E"/>
                          </a:solidFill>
                          <a:latin typeface="Calibri"/>
                        </a:rPr>
                        <a:t>Linear</a:t>
                      </a:r>
                    </a:p>
                  </a:txBody>
                  <a:tcPr marL="54864" marR="54864" marT="18288" marB="18288">
                    <a:solidFill>
                      <a:srgbClr val="FFFFFF"/>
                    </a:solidFill>
                  </a:tcPr>
                </a:tc>
                <a:tc>
                  <a:txBody>
                    <a:bodyPr/>
                    <a:lstStyle/>
                    <a:p>
                      <a:pPr algn="l"/>
                      <a:r>
                        <a:rPr sz="1000" b="0">
                          <a:solidFill>
                            <a:srgbClr val="52514E"/>
                          </a:solidFill>
                          <a:latin typeface="Calibri"/>
                        </a:rPr>
                        <a:t>0.73</a:t>
                      </a:r>
                    </a:p>
                  </a:txBody>
                  <a:tcPr marL="54864" marR="54864" marT="18288" marB="18288">
                    <a:solidFill>
                      <a:srgbClr val="FFFFFF"/>
                    </a:solidFill>
                  </a:tcPr>
                </a:tc>
                <a:tc>
                  <a:txBody>
                    <a:bodyPr/>
                    <a:lstStyle/>
                    <a:p>
                      <a:pPr algn="l"/>
                      <a:r>
                        <a:rPr sz="1000" b="0">
                          <a:solidFill>
                            <a:srgbClr val="52514E"/>
                          </a:solidFill>
                          <a:latin typeface="Calibri"/>
                        </a:rPr>
                        <a:t>1.37</a:t>
                      </a:r>
                    </a:p>
                  </a:txBody>
                  <a:tcPr marL="54864" marR="54864" marT="18288" marB="18288">
                    <a:solidFill>
                      <a:srgbClr val="FFFFFF"/>
                    </a:solidFill>
                  </a:tcPr>
                </a:tc>
                <a:tc>
                  <a:txBody>
                    <a:bodyPr/>
                    <a:lstStyle/>
                    <a:p>
                      <a:pPr algn="l"/>
                      <a:r>
                        <a:rPr sz="1000" b="0">
                          <a:solidFill>
                            <a:srgbClr val="52514E"/>
                          </a:solidFill>
                          <a:latin typeface="Calibri"/>
                        </a:rPr>
                        <a:t>2.56</a:t>
                      </a:r>
                    </a:p>
                  </a:txBody>
                  <a:tcPr marL="54864" marR="54864" marT="18288" marB="18288">
                    <a:solidFill>
                      <a:srgbClr val="FFFFFF"/>
                    </a:solidFill>
                  </a:tcPr>
                </a:tc>
                <a:tc>
                  <a:txBody>
                    <a:bodyPr/>
                    <a:lstStyle/>
                    <a:p>
                      <a:pPr algn="l"/>
                      <a:r>
                        <a:rPr sz="1000" b="0">
                          <a:solidFill>
                            <a:srgbClr val="52514E"/>
                          </a:solidFill>
                          <a:latin typeface="Calibri"/>
                        </a:rPr>
                        <a:t>1.50</a:t>
                      </a:r>
                    </a:p>
                  </a:txBody>
                  <a:tcPr marL="54864" marR="54864" marT="18288" marB="18288">
                    <a:solidFill>
                      <a:srgbClr val="FFFFFF"/>
                    </a:solidFill>
                  </a:tcPr>
                </a:tc>
                <a:tc>
                  <a:txBody>
                    <a:bodyPr/>
                    <a:lstStyle/>
                    <a:p>
                      <a:pPr algn="l"/>
                      <a:r>
                        <a:rPr sz="1000" b="0">
                          <a:solidFill>
                            <a:srgbClr val="52514E"/>
                          </a:solidFill>
                          <a:latin typeface="Calibri"/>
                        </a:rPr>
                        <a:t>0.09</a:t>
                      </a:r>
                    </a:p>
                  </a:txBody>
                  <a:tcPr marL="54864" marR="54864" marT="18288" marB="18288">
                    <a:solidFill>
                      <a:srgbClr val="FFFFFF"/>
                    </a:solidFill>
                  </a:tcPr>
                </a:tc>
              </a:tr>
              <a:tr h="304800">
                <a:tc>
                  <a:txBody>
                    <a:bodyPr/>
                    <a:lstStyle/>
                    <a:p>
                      <a:pPr algn="l"/>
                      <a:r>
                        <a:rPr sz="1000" b="0">
                          <a:solidFill>
                            <a:srgbClr val="52514E"/>
                          </a:solidFill>
                          <a:latin typeface="Calibri"/>
                        </a:rPr>
                        <a:t>MLP</a:t>
                      </a:r>
                    </a:p>
                  </a:txBody>
                  <a:tcPr marL="54864" marR="54864" marT="18288" marB="18288">
                    <a:solidFill>
                      <a:srgbClr val="F2F5FA"/>
                    </a:solidFill>
                  </a:tcPr>
                </a:tc>
                <a:tc>
                  <a:txBody>
                    <a:bodyPr/>
                    <a:lstStyle/>
                    <a:p>
                      <a:pPr algn="l"/>
                      <a:r>
                        <a:rPr sz="1000" b="0">
                          <a:solidFill>
                            <a:srgbClr val="52514E"/>
                          </a:solidFill>
                          <a:latin typeface="Calibri"/>
                        </a:rPr>
                        <a:t>1.12</a:t>
                      </a:r>
                    </a:p>
                  </a:txBody>
                  <a:tcPr marL="54864" marR="54864" marT="18288" marB="18288">
                    <a:solidFill>
                      <a:srgbClr val="F2F5FA"/>
                    </a:solidFill>
                  </a:tcPr>
                </a:tc>
                <a:tc>
                  <a:txBody>
                    <a:bodyPr/>
                    <a:lstStyle/>
                    <a:p>
                      <a:pPr algn="l"/>
                      <a:r>
                        <a:rPr sz="1000" b="0">
                          <a:solidFill>
                            <a:srgbClr val="52514E"/>
                          </a:solidFill>
                          <a:latin typeface="Calibri"/>
                        </a:rPr>
                        <a:t>1.50</a:t>
                      </a:r>
                    </a:p>
                  </a:txBody>
                  <a:tcPr marL="54864" marR="54864" marT="18288" marB="18288">
                    <a:solidFill>
                      <a:srgbClr val="F2F5FA"/>
                    </a:solidFill>
                  </a:tcPr>
                </a:tc>
                <a:tc>
                  <a:txBody>
                    <a:bodyPr/>
                    <a:lstStyle/>
                    <a:p>
                      <a:pPr algn="l"/>
                      <a:r>
                        <a:rPr sz="1000" b="0">
                          <a:solidFill>
                            <a:srgbClr val="52514E"/>
                          </a:solidFill>
                          <a:latin typeface="Calibri"/>
                        </a:rPr>
                        <a:t>2.43</a:t>
                      </a:r>
                    </a:p>
                  </a:txBody>
                  <a:tcPr marL="54864" marR="54864" marT="18288" marB="18288">
                    <a:solidFill>
                      <a:srgbClr val="F2F5FA"/>
                    </a:solidFill>
                  </a:tcPr>
                </a:tc>
                <a:tc>
                  <a:txBody>
                    <a:bodyPr/>
                    <a:lstStyle/>
                    <a:p>
                      <a:pPr algn="l"/>
                      <a:r>
                        <a:rPr sz="1000" b="0">
                          <a:solidFill>
                            <a:srgbClr val="52514E"/>
                          </a:solidFill>
                          <a:latin typeface="Calibri"/>
                        </a:rPr>
                        <a:t>1.63 ± 0.06</a:t>
                      </a:r>
                    </a:p>
                  </a:txBody>
                  <a:tcPr marL="54864" marR="54864" marT="18288" marB="18288">
                    <a:solidFill>
                      <a:srgbClr val="F2F5FA"/>
                    </a:solidFill>
                  </a:tcPr>
                </a:tc>
                <a:tc>
                  <a:txBody>
                    <a:bodyPr/>
                    <a:lstStyle/>
                    <a:p>
                      <a:pPr algn="l"/>
                      <a:r>
                        <a:rPr sz="1000" b="0">
                          <a:solidFill>
                            <a:srgbClr val="52514E"/>
                          </a:solidFill>
                          <a:latin typeface="Calibri"/>
                        </a:rPr>
                        <a:t>0.03</a:t>
                      </a:r>
                    </a:p>
                  </a:txBody>
                  <a:tcPr marL="54864" marR="54864" marT="18288" marB="18288">
                    <a:solidFill>
                      <a:srgbClr val="F2F5FA"/>
                    </a:solidFill>
                  </a:tcPr>
                </a:tc>
              </a:tr>
              <a:tr h="304800">
                <a:tc>
                  <a:txBody>
                    <a:bodyPr/>
                    <a:lstStyle/>
                    <a:p>
                      <a:pPr algn="l"/>
                      <a:r>
                        <a:rPr sz="1000" b="0">
                          <a:solidFill>
                            <a:srgbClr val="52514E"/>
                          </a:solidFill>
                          <a:latin typeface="Calibri"/>
                        </a:rPr>
                        <a:t>LSTM</a:t>
                      </a:r>
                    </a:p>
                  </a:txBody>
                  <a:tcPr marL="54864" marR="54864" marT="18288" marB="18288">
                    <a:solidFill>
                      <a:srgbClr val="FFFFFF"/>
                    </a:solidFill>
                  </a:tcPr>
                </a:tc>
                <a:tc>
                  <a:txBody>
                    <a:bodyPr/>
                    <a:lstStyle/>
                    <a:p>
                      <a:pPr algn="l"/>
                      <a:r>
                        <a:rPr sz="1000" b="0">
                          <a:solidFill>
                            <a:srgbClr val="52514E"/>
                          </a:solidFill>
                          <a:latin typeface="Calibri"/>
                        </a:rPr>
                        <a:t>0.95</a:t>
                      </a:r>
                    </a:p>
                  </a:txBody>
                  <a:tcPr marL="54864" marR="54864" marT="18288" marB="18288">
                    <a:solidFill>
                      <a:srgbClr val="FFFFFF"/>
                    </a:solidFill>
                  </a:tcPr>
                </a:tc>
                <a:tc>
                  <a:txBody>
                    <a:bodyPr/>
                    <a:lstStyle/>
                    <a:p>
                      <a:pPr algn="l"/>
                      <a:r>
                        <a:rPr sz="1000" b="0">
                          <a:solidFill>
                            <a:srgbClr val="52514E"/>
                          </a:solidFill>
                          <a:latin typeface="Calibri"/>
                        </a:rPr>
                        <a:t>1.32</a:t>
                      </a:r>
                    </a:p>
                  </a:txBody>
                  <a:tcPr marL="54864" marR="54864" marT="18288" marB="18288">
                    <a:solidFill>
                      <a:srgbClr val="FFFFFF"/>
                    </a:solidFill>
                  </a:tcPr>
                </a:tc>
                <a:tc>
                  <a:txBody>
                    <a:bodyPr/>
                    <a:lstStyle/>
                    <a:p>
                      <a:pPr algn="l"/>
                      <a:r>
                        <a:rPr sz="1000" b="0">
                          <a:solidFill>
                            <a:srgbClr val="52514E"/>
                          </a:solidFill>
                          <a:latin typeface="Calibri"/>
                        </a:rPr>
                        <a:t>2.18</a:t>
                      </a:r>
                    </a:p>
                  </a:txBody>
                  <a:tcPr marL="54864" marR="54864" marT="18288" marB="18288">
                    <a:solidFill>
                      <a:srgbClr val="FFFFFF"/>
                    </a:solidFill>
                  </a:tcPr>
                </a:tc>
                <a:tc>
                  <a:txBody>
                    <a:bodyPr/>
                    <a:lstStyle/>
                    <a:p>
                      <a:pPr algn="l"/>
                      <a:r>
                        <a:rPr sz="1000" b="0">
                          <a:solidFill>
                            <a:srgbClr val="52514E"/>
                          </a:solidFill>
                          <a:latin typeface="Calibri"/>
                        </a:rPr>
                        <a:t>1.44 ± 0.04</a:t>
                      </a:r>
                    </a:p>
                  </a:txBody>
                  <a:tcPr marL="54864" marR="54864" marT="18288" marB="18288">
                    <a:solidFill>
                      <a:srgbClr val="FFFFFF"/>
                    </a:solidFill>
                  </a:tcPr>
                </a:tc>
                <a:tc>
                  <a:txBody>
                    <a:bodyPr/>
                    <a:lstStyle/>
                    <a:p>
                      <a:pPr algn="l"/>
                      <a:r>
                        <a:rPr sz="1000" b="0">
                          <a:solidFill>
                            <a:srgbClr val="52514E"/>
                          </a:solidFill>
                          <a:latin typeface="Calibri"/>
                        </a:rPr>
                        <a:t>0.34</a:t>
                      </a:r>
                    </a:p>
                  </a:txBody>
                  <a:tcPr marL="54864" marR="54864" marT="18288" marB="18288">
                    <a:solidFill>
                      <a:srgbClr val="FFFFFF"/>
                    </a:solidFill>
                  </a:tcPr>
                </a:tc>
              </a:tr>
              <a:tr h="304800">
                <a:tc>
                  <a:txBody>
                    <a:bodyPr/>
                    <a:lstStyle/>
                    <a:p>
                      <a:pPr algn="l"/>
                      <a:r>
                        <a:rPr sz="1000" b="0">
                          <a:solidFill>
                            <a:srgbClr val="52514E"/>
                          </a:solidFill>
                          <a:latin typeface="Calibri"/>
                        </a:rPr>
                        <a:t>Transformer</a:t>
                      </a:r>
                    </a:p>
                  </a:txBody>
                  <a:tcPr marL="54864" marR="54864" marT="18288" marB="18288">
                    <a:solidFill>
                      <a:srgbClr val="F2F5FA"/>
                    </a:solidFill>
                  </a:tcPr>
                </a:tc>
                <a:tc>
                  <a:txBody>
                    <a:bodyPr/>
                    <a:lstStyle/>
                    <a:p>
                      <a:pPr algn="l"/>
                      <a:r>
                        <a:rPr sz="1000" b="0">
                          <a:solidFill>
                            <a:srgbClr val="52514E"/>
                          </a:solidFill>
                          <a:latin typeface="Calibri"/>
                        </a:rPr>
                        <a:t>1.17</a:t>
                      </a:r>
                    </a:p>
                  </a:txBody>
                  <a:tcPr marL="54864" marR="54864" marT="18288" marB="18288">
                    <a:solidFill>
                      <a:srgbClr val="F2F5FA"/>
                    </a:solidFill>
                  </a:tcPr>
                </a:tc>
                <a:tc>
                  <a:txBody>
                    <a:bodyPr/>
                    <a:lstStyle/>
                    <a:p>
                      <a:pPr algn="l"/>
                      <a:r>
                        <a:rPr sz="1000" b="0">
                          <a:solidFill>
                            <a:srgbClr val="52514E"/>
                          </a:solidFill>
                          <a:latin typeface="Calibri"/>
                        </a:rPr>
                        <a:t>1.47</a:t>
                      </a:r>
                    </a:p>
                  </a:txBody>
                  <a:tcPr marL="54864" marR="54864" marT="18288" marB="18288">
                    <a:solidFill>
                      <a:srgbClr val="F2F5FA"/>
                    </a:solidFill>
                  </a:tcPr>
                </a:tc>
                <a:tc>
                  <a:txBody>
                    <a:bodyPr/>
                    <a:lstStyle/>
                    <a:p>
                      <a:pPr algn="l"/>
                      <a:r>
                        <a:rPr sz="1000" b="0">
                          <a:solidFill>
                            <a:srgbClr val="52514E"/>
                          </a:solidFill>
                          <a:latin typeface="Calibri"/>
                        </a:rPr>
                        <a:t>2.32</a:t>
                      </a:r>
                    </a:p>
                  </a:txBody>
                  <a:tcPr marL="54864" marR="54864" marT="18288" marB="18288">
                    <a:solidFill>
                      <a:srgbClr val="F2F5FA"/>
                    </a:solidFill>
                  </a:tcPr>
                </a:tc>
                <a:tc>
                  <a:txBody>
                    <a:bodyPr/>
                    <a:lstStyle/>
                    <a:p>
                      <a:pPr algn="l"/>
                      <a:r>
                        <a:rPr sz="1000" b="0">
                          <a:solidFill>
                            <a:srgbClr val="52514E"/>
                          </a:solidFill>
                          <a:latin typeface="Calibri"/>
                        </a:rPr>
                        <a:t>1.60 ± 0.15</a:t>
                      </a:r>
                    </a:p>
                  </a:txBody>
                  <a:tcPr marL="54864" marR="54864" marT="18288" marB="18288">
                    <a:solidFill>
                      <a:srgbClr val="F2F5FA"/>
                    </a:solidFill>
                  </a:tcPr>
                </a:tc>
                <a:tc>
                  <a:txBody>
                    <a:bodyPr/>
                    <a:lstStyle/>
                    <a:p>
                      <a:pPr algn="l"/>
                      <a:r>
                        <a:rPr sz="1000" b="0">
                          <a:solidFill>
                            <a:srgbClr val="52514E"/>
                          </a:solidFill>
                          <a:latin typeface="Calibri"/>
                        </a:rPr>
                        <a:t>0.51</a:t>
                      </a:r>
                    </a:p>
                  </a:txBody>
                  <a:tcPr marL="54864" marR="54864" marT="18288" marB="18288">
                    <a:solidFill>
                      <a:srgbClr val="F2F5FA"/>
                    </a:solidFill>
                  </a:tcPr>
                </a:tc>
              </a:tr>
            </a:tbl>
          </a:graphicData>
        </a:graphic>
      </p:graphicFrame>
      <p:sp>
        <p:nvSpPr>
          <p:cNvPr id="9" name="Rounded Rectangle 8"/>
          <p:cNvSpPr/>
          <p:nvPr/>
        </p:nvSpPr>
        <p:spPr>
          <a:xfrm>
            <a:off x="548640" y="3776472"/>
            <a:ext cx="5623560" cy="1202436"/>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Two error sources cross over</a:t>
            </a:r>
          </a:p>
          <a:p>
            <a:pPr algn="just">
              <a:spcAft>
                <a:spcPts val="400"/>
              </a:spcAft>
            </a:pPr>
            <a:r>
              <a:rPr sz="1200" b="0">
                <a:solidFill>
                  <a:srgbClr val="52514E"/>
                </a:solidFill>
                <a:latin typeface="Calibri"/>
              </a:rPr>
              <a:t>Near the horizon, error is dominated by gait sway and sensor noise, where closed-form least squares is the optimal linear filter. Far out it is dominated by unanticipated velocity change, which compounds in time and is the mechanism that makes long planning horizons expensive for any predictive planner.</a:t>
            </a:r>
          </a:p>
        </p:txBody>
      </p:sp>
      <p:sp>
        <p:nvSpPr>
          <p:cNvPr id="10" name="Rounded Rectangle 9"/>
          <p:cNvSpPr/>
          <p:nvPr/>
        </p:nvSpPr>
        <p:spPr>
          <a:xfrm>
            <a:off x="548640" y="5088636"/>
            <a:ext cx="5623560" cy="1202436"/>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The nonlinear gain is concentrated</a:t>
            </a:r>
          </a:p>
          <a:p>
            <a:pPr algn="just">
              <a:spcAft>
                <a:spcPts val="400"/>
              </a:spcAft>
            </a:pPr>
            <a:r>
              <a:rPr sz="1200" b="0">
                <a:solidFill>
                  <a:srgbClr val="52514E"/>
                </a:solidFill>
                <a:latin typeface="Calibri"/>
              </a:rPr>
              <a:t>On the 273 avoidance episodes of 750 the LSTM leads linear regression by 0.66 cm at the fifth waypoint; on the 477 clean episodes that gap falls to 0.15 cm. The Transformer is the panel's one dominated point, slowest and less accurate at every horizon.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What the trajectory model reads</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Week 4 · Transformer horizon-query decoder · attention over the 10-step history, resolved per output waypoint</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Attention's centre of mass slides from step 6.7 to step 3.1 as the horizon extends.</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pic>
        <p:nvPicPr>
          <p:cNvPr id="7" name="Picture 6" descr="attention_over_horizon.png"/>
          <p:cNvPicPr>
            <a:picLocks noChangeAspect="1"/>
          </p:cNvPicPr>
          <p:nvPr/>
        </p:nvPicPr>
        <p:blipFill>
          <a:blip r:embed="rId2"/>
          <a:stretch>
            <a:fillRect/>
          </a:stretch>
        </p:blipFill>
        <p:spPr>
          <a:xfrm>
            <a:off x="1123797" y="1783080"/>
            <a:ext cx="9944100" cy="2651760"/>
          </a:xfrm>
          <a:prstGeom prst="rect">
            <a:avLst/>
          </a:prstGeom>
        </p:spPr>
      </p:pic>
      <p:sp>
        <p:nvSpPr>
          <p:cNvPr id="8" name="Rounded Rectangle 7"/>
          <p:cNvSpPr/>
          <p:nvPr/>
        </p:nvSpPr>
        <p:spPr>
          <a:xfrm>
            <a:off x="548640" y="4599432"/>
            <a:ext cx="3624072" cy="169164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The centre of mass moves monotonically</a:t>
            </a:r>
          </a:p>
          <a:p>
            <a:pPr algn="just">
              <a:spcAft>
                <a:spcPts val="400"/>
              </a:spcAft>
            </a:pPr>
            <a:r>
              <a:rPr sz="1200" b="0">
                <a:solidFill>
                  <a:srgbClr val="52514E"/>
                </a:solidFill>
                <a:latin typeface="Calibri"/>
              </a:rPr>
              <a:t>Averaged over the test set, attention mass moves steadily back through the history as the horizon grows. One decoder, five different read patterns from the same input, none of them specified in advance.</a:t>
            </a:r>
          </a:p>
        </p:txBody>
      </p:sp>
      <p:sp>
        <p:nvSpPr>
          <p:cNvPr id="9" name="Rounded Rectangle 8"/>
          <p:cNvSpPr/>
          <p:nvPr/>
        </p:nvSpPr>
        <p:spPr>
          <a:xfrm>
            <a:off x="4282440" y="4599432"/>
            <a:ext cx="3624072" cy="169164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Near leans on the latest state, far on the earliest</a:t>
            </a:r>
          </a:p>
          <a:p>
            <a:pPr algn="just">
              <a:spcAft>
                <a:spcPts val="400"/>
              </a:spcAft>
            </a:pPr>
            <a:r>
              <a:rPr sz="1200" b="0">
                <a:solidFill>
                  <a:srgbClr val="52514E"/>
                </a:solidFill>
                <a:latin typeface="Calibri"/>
              </a:rPr>
              <a:t>The near waypoint concentrates about 0.24 of its weight on the final step, where current velocity is close to the answer; the far waypoint about 0.20 on the first, where the trend to be extrapolated is anchored. A tilt rather than a concentration.</a:t>
            </a:r>
          </a:p>
        </p:txBody>
      </p:sp>
      <p:sp>
        <p:nvSpPr>
          <p:cNvPr id="10" name="Rounded Rectangle 9"/>
          <p:cNvSpPr/>
          <p:nvPr/>
        </p:nvSpPr>
        <p:spPr>
          <a:xfrm>
            <a:off x="8016240" y="4599432"/>
            <a:ext cx="3624072" cy="169164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The learned analogue of a receding-horizon planner</a:t>
            </a:r>
          </a:p>
          <a:p>
            <a:pPr algn="just">
              <a:spcAft>
                <a:spcPts val="400"/>
              </a:spcAft>
            </a:pPr>
            <a:r>
              <a:rPr sz="1200" b="0">
                <a:solidFill>
                  <a:srgbClr val="52514E"/>
                </a:solidFill>
                <a:latin typeface="Calibri"/>
              </a:rPr>
              <a:t>Instantaneous state for the immediate control step, trend and context for the tail of the horizon. Read as a description of the attention pattern rather than a mechanism the model was shown to 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RL environment and policy</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Weeks 5–6 · patrol MDP tied to the offline table by a bit-exact replay gate · 5 train seeds × 10 fixed worlds</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The behaviour-cloning warm start is a precondition, not an optimisation: 156 from scratch against 6,421 warm-started.</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pic>
        <p:nvPicPr>
          <p:cNvPr id="7" name="Picture 6" descr="return_ladder.png"/>
          <p:cNvPicPr>
            <a:picLocks noChangeAspect="1"/>
          </p:cNvPicPr>
          <p:nvPr/>
        </p:nvPicPr>
        <p:blipFill>
          <a:blip r:embed="rId2"/>
          <a:stretch>
            <a:fillRect/>
          </a:stretch>
        </p:blipFill>
        <p:spPr>
          <a:xfrm>
            <a:off x="6355080" y="2478318"/>
            <a:ext cx="5486400" cy="3117515"/>
          </a:xfrm>
          <a:prstGeom prst="rect">
            <a:avLst/>
          </a:prstGeom>
        </p:spPr>
      </p:pic>
      <p:sp>
        <p:nvSpPr>
          <p:cNvPr id="8" name="Rounded Rectangle 7"/>
          <p:cNvSpPr/>
          <p:nvPr/>
        </p:nvSpPr>
        <p:spPr>
          <a:xfrm>
            <a:off x="548640" y="178308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From scratch, on-policy lands below the floor</a:t>
            </a:r>
          </a:p>
          <a:p>
            <a:pPr algn="just">
              <a:spcAft>
                <a:spcPts val="400"/>
              </a:spcAft>
            </a:pPr>
            <a:r>
              <a:rPr sz="1200" b="0">
                <a:solidFill>
                  <a:srgbClr val="52514E"/>
                </a:solidFill>
                <a:latin typeface="Calibri"/>
              </a:rPr>
              <a:t>PPO returns 156 and the group-relative variant 214, both collapsing to roughly 310-step episodes, against a scripted rule policy at 3,931 that any deployment already has. From a cloned checkpoint the same code clears that floor by 1,251 to 2,490.</a:t>
            </a:r>
          </a:p>
        </p:txBody>
      </p:sp>
      <p:sp>
        <p:nvSpPr>
          <p:cNvPr id="9" name="Rounded Rectangle 8"/>
          <p:cNvSpPr/>
          <p:nvPr/>
        </p:nvSpPr>
        <p:spPr>
          <a:xfrm>
            <a:off x="548640" y="332232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Behaviour cloning is distillation</a:t>
            </a:r>
          </a:p>
          <a:p>
            <a:pPr algn="just">
              <a:spcAft>
                <a:spcPts val="400"/>
              </a:spcAft>
            </a:pPr>
            <a:r>
              <a:rPr sz="1200" b="0">
                <a:solidFill>
                  <a:srgbClr val="52514E"/>
                </a:solidFill>
                <a:latin typeface="Calibri"/>
              </a:rPr>
              <a:t>It converts a policy that needed the ground-truth fault label into one running on sensors alone, reaching 4,892 and inheriting the best navigational profile in the chapter at 0.84 rerouting. The privileged expert ceiling is 11,575.</a:t>
            </a:r>
          </a:p>
        </p:txBody>
      </p:sp>
      <p:sp>
        <p:nvSpPr>
          <p:cNvPr id="10" name="Rounded Rectangle 9"/>
          <p:cNvSpPr/>
          <p:nvPr/>
        </p:nvSpPr>
        <p:spPr>
          <a:xfrm>
            <a:off x="548640" y="486156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Value-based methods never clear the floor</a:t>
            </a:r>
          </a:p>
          <a:p>
            <a:pPr algn="just">
              <a:spcAft>
                <a:spcPts val="400"/>
              </a:spcAft>
            </a:pPr>
            <a:r>
              <a:rPr sz="1200" b="0">
                <a:solidFill>
                  <a:srgbClr val="52514E"/>
                </a:solidFill>
                <a:latin typeface="Calibri"/>
              </a:rPr>
              <a:t>DQN reroutes on 1 to 9 % of blockages against the rule policy's 1.00 and does not transfer. Tripling its budget moved the paired return by −603 at p = 0.084, so the navigational failure is structural rather than a training-time shortfall.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GRPO-style, hierarchy and multi-agent</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Week 6 · seed-0 policy per family on five unseen layouts · node-level semi-MDP · two-rover coordination</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A leaderboard on the training layout selects the policy that generalises worse.</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pic>
        <p:nvPicPr>
          <p:cNvPr id="7" name="Picture 6" descr="cross_layout.png"/>
          <p:cNvPicPr>
            <a:picLocks noChangeAspect="1"/>
          </p:cNvPicPr>
          <p:nvPr/>
        </p:nvPicPr>
        <p:blipFill>
          <a:blip r:embed="rId2"/>
          <a:stretch>
            <a:fillRect/>
          </a:stretch>
        </p:blipFill>
        <p:spPr>
          <a:xfrm>
            <a:off x="6355080" y="2676171"/>
            <a:ext cx="5486400" cy="2721810"/>
          </a:xfrm>
          <a:prstGeom prst="rect">
            <a:avLst/>
          </a:prstGeom>
        </p:spPr>
      </p:pic>
      <p:sp>
        <p:nvSpPr>
          <p:cNvPr id="8" name="Rounded Rectangle 7"/>
          <p:cNvSpPr/>
          <p:nvPr/>
        </p:nvSpPr>
        <p:spPr>
          <a:xfrm>
            <a:off x="548640" y="178308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The canonical ordering reverses</a:t>
            </a:r>
          </a:p>
          <a:p>
            <a:pPr algn="just">
              <a:spcAft>
                <a:spcPts val="400"/>
              </a:spcAft>
            </a:pPr>
            <a:r>
              <a:rPr sz="1200" b="0">
                <a:solidFill>
                  <a:srgbClr val="52514E"/>
                </a:solidFill>
                <a:latin typeface="Calibri"/>
              </a:rPr>
              <a:t>PPO and the group-relative variant are tied on the training layout (p = 0.084), but the group-relative variant wins all five held-out layouts by 1,286 to 2,300. PPO's edge is bought by alerting hard, which tunes it to where the faults sit on this terrain. One seed per family, so this is a direction rather than an effect size.</a:t>
            </a:r>
          </a:p>
        </p:txBody>
      </p:sp>
      <p:sp>
        <p:nvSpPr>
          <p:cNvPr id="9" name="Rounded Rectangle 8"/>
          <p:cNvSpPr/>
          <p:nvPr/>
        </p:nvSpPr>
        <p:spPr>
          <a:xfrm>
            <a:off x="548640" y="332232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Hierarchy and inverse RL</a:t>
            </a:r>
          </a:p>
          <a:p>
            <a:pPr algn="just">
              <a:spcAft>
                <a:spcPts val="400"/>
              </a:spcAft>
            </a:pPr>
            <a:r>
              <a:rPr sz="1200" b="0">
                <a:solidFill>
                  <a:srgbClr val="52514E"/>
                </a:solidFill>
                <a:latin typeface="Calibri"/>
              </a:rPr>
              <a:t>A node-level semi-MDP lifts rerouting from 0.34 to 0.82, though its option controllers read the ground-truth label and so sit in the privileged bracket. Maximum-entropy IRL recovers a reward correlating only 0.31 with the truth, yet the policy optimal under it covers 96 % of the floor-to-ceiling range: reward recovery and policy recovery are separate objectives.</a:t>
            </a:r>
          </a:p>
        </p:txBody>
      </p:sp>
      <p:sp>
        <p:nvSpPr>
          <p:cNvPr id="10" name="Rounded Rectangle 9"/>
          <p:cNvSpPr/>
          <p:nvPr/>
        </p:nvSpPr>
        <p:spPr>
          <a:xfrm>
            <a:off x="548640" y="486156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Multi-agent is a structural null</a:t>
            </a:r>
          </a:p>
          <a:p>
            <a:pPr algn="just">
              <a:spcAft>
                <a:spcPts val="400"/>
              </a:spcAft>
            </a:pPr>
            <a:r>
              <a:rPr sz="1200" b="0">
                <a:solidFill>
                  <a:srgbClr val="52514E"/>
                </a:solidFill>
                <a:latin typeface="Calibri"/>
              </a:rPr>
              <a:t>Shared and difference rewards are indistinguishable on every coordination metric. At about nine node-level decisions per episode, a million steps yields roughly thirty policy updates, so neither scheme accumulates enough attributed outcomes to differ.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Explainability — validated against a known truth</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Week 7 · Fari attribution against the generative weights that produced its labels · SHAP on the forest and the MLP</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Where a ground truth exists both model families recover it exactly, at Spearman 1.0.</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pic>
        <p:nvPicPr>
          <p:cNvPr id="7" name="Picture 6" descr="fari_shap_vs_true_weights.png"/>
          <p:cNvPicPr>
            <a:picLocks noChangeAspect="1"/>
          </p:cNvPicPr>
          <p:nvPr/>
        </p:nvPicPr>
        <p:blipFill>
          <a:blip r:embed="rId2"/>
          <a:stretch>
            <a:fillRect/>
          </a:stretch>
        </p:blipFill>
        <p:spPr>
          <a:xfrm>
            <a:off x="6355080" y="2853224"/>
            <a:ext cx="5486400" cy="2367704"/>
          </a:xfrm>
          <a:prstGeom prst="rect">
            <a:avLst/>
          </a:prstGeom>
        </p:spPr>
      </p:pic>
      <p:sp>
        <p:nvSpPr>
          <p:cNvPr id="8" name="Rounded Rectangle 7"/>
          <p:cNvSpPr/>
          <p:nvPr/>
        </p:nvSpPr>
        <p:spPr>
          <a:xfrm>
            <a:off x="548640" y="178308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Why start where the answer is known</a:t>
            </a:r>
          </a:p>
          <a:p>
            <a:pPr algn="just">
              <a:spcAft>
                <a:spcPts val="400"/>
              </a:spcAft>
            </a:pPr>
            <a:r>
              <a:rPr sz="1200" b="0">
                <a:solidFill>
                  <a:srgbClr val="52514E"/>
                </a:solidFill>
                <a:latin typeface="Calibri"/>
              </a:rPr>
              <a:t>Fari's labels come from an explicit linear generator, so the true importance ordering exists. Both models reproduce it, and their attribution shares track the true weight shares to within a few points on every feature. That is what licenses reading attributions on Rover, where no such truth exists.</a:t>
            </a:r>
          </a:p>
        </p:txBody>
      </p:sp>
      <p:sp>
        <p:nvSpPr>
          <p:cNvPr id="9" name="Rounded Rectangle 8"/>
          <p:cNvSpPr/>
          <p:nvPr/>
        </p:nvSpPr>
        <p:spPr>
          <a:xfrm>
            <a:off x="548640" y="332232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Variance ordering is not relevance ordering</a:t>
            </a:r>
          </a:p>
          <a:p>
            <a:pPr algn="just">
              <a:spcAft>
                <a:spcPts val="400"/>
              </a:spcAft>
            </a:pPr>
            <a:r>
              <a:rPr sz="1200" b="0">
                <a:solidFill>
                  <a:srgbClr val="52514E"/>
                </a:solidFill>
                <a:latin typeface="Calibri"/>
              </a:rPr>
              <a:t>The forest's top five Shapley components are the Week-2 selection exactly, and the MLP's ranking in its own 40-D space is led by the engineered dispersion feature. Two of the forest's five carry only 2.1 % and 1.4 % of the variance, and a 0.90 retention threshold would have discarded one outright, so where the PCA cut sits is a modelling decision.</a:t>
            </a:r>
          </a:p>
        </p:txBody>
      </p:sp>
      <p:sp>
        <p:nvSpPr>
          <p:cNvPr id="10" name="Rounded Rectangle 9"/>
          <p:cNvSpPr/>
          <p:nvPr/>
        </p:nvSpPr>
        <p:spPr>
          <a:xfrm>
            <a:off x="548640" y="4861560"/>
            <a:ext cx="5623560" cy="142951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And on the third task</a:t>
            </a:r>
          </a:p>
          <a:p>
            <a:pPr algn="just">
              <a:spcAft>
                <a:spcPts val="400"/>
              </a:spcAft>
            </a:pPr>
            <a:r>
              <a:rPr sz="1200" b="0">
                <a:solidFill>
                  <a:srgbClr val="52514E"/>
                </a:solidFill>
                <a:latin typeface="Calibri"/>
              </a:rPr>
              <a:t>On Senpai the forest reaches macro-F1 0.667 against a 0.764 oracle ceiling, about 87 % of the information the features carry, with hint requests attributing nearly twice as strongly for the beginner class as for the intermediate 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Explainability — where the residual misses come from</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Week 7 · stuck-type windows by detection outcome · selectivity is mean attention on fault steps over normal steps</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On the episode missed entirely, all 49 windows localise the fault while the head calls them normal.</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pic>
        <p:nvPicPr>
          <p:cNvPr id="7" name="Picture 6" descr="attention_stuck_detected_vs_missed.png"/>
          <p:cNvPicPr>
            <a:picLocks noChangeAspect="1"/>
          </p:cNvPicPr>
          <p:nvPr/>
        </p:nvPicPr>
        <p:blipFill>
          <a:blip r:embed="rId2"/>
          <a:stretch>
            <a:fillRect/>
          </a:stretch>
        </p:blipFill>
        <p:spPr>
          <a:xfrm>
            <a:off x="2664158" y="1783080"/>
            <a:ext cx="6863378" cy="2651760"/>
          </a:xfrm>
          <a:prstGeom prst="rect">
            <a:avLst/>
          </a:prstGeom>
        </p:spPr>
      </p:pic>
      <p:sp>
        <p:nvSpPr>
          <p:cNvPr id="8" name="Rounded Rectangle 7"/>
          <p:cNvSpPr/>
          <p:nvPr/>
        </p:nvSpPr>
        <p:spPr>
          <a:xfrm>
            <a:off x="548640" y="4599432"/>
            <a:ext cx="3624072" cy="169164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A decision-layer failure, not a localisation failure</a:t>
            </a:r>
          </a:p>
          <a:p>
            <a:pPr algn="just">
              <a:spcAft>
                <a:spcPts val="400"/>
              </a:spcAft>
            </a:pPr>
            <a:r>
              <a:rPr sz="1200" b="0">
                <a:solidFill>
                  <a:srgbClr val="52514E"/>
                </a:solidFill>
                <a:latin typeface="Calibri"/>
              </a:rPr>
              <a:t>Stuck-type faults carry the recall ceiling, caught in 39.5 % of windows against 76.2 % for slip. If the encoder had lost the fault, the missed group would sit near a selectivity of 1. It sits at a median of 8.7 instead.</a:t>
            </a:r>
          </a:p>
        </p:txBody>
      </p:sp>
      <p:sp>
        <p:nvSpPr>
          <p:cNvPr id="9" name="Rounded Rectangle 8"/>
          <p:cNvSpPr/>
          <p:nvPr/>
        </p:nvSpPr>
        <p:spPr>
          <a:xfrm>
            <a:off x="4282440" y="4599432"/>
            <a:ext cx="3624072" cy="169164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Which inverts the fix</a:t>
            </a:r>
          </a:p>
          <a:p>
            <a:pPr algn="just">
              <a:spcAft>
                <a:spcPts val="400"/>
              </a:spcAft>
            </a:pPr>
            <a:r>
              <a:rPr sz="1200" b="0">
                <a:solidFill>
                  <a:srgbClr val="52514E"/>
                </a:solidFill>
                <a:latin typeface="Calibri"/>
              </a:rPr>
              <a:t>More capacity in the attention stack addresses a component that is already working. The remaining recall lives in the pooled readout and the operating point, and an event-level decision rule is the direction that would reach it. The windows tile only two episodes, so only this one-sided claim stands, not a detected-versus-missed ranking.</a:t>
            </a:r>
          </a:p>
        </p:txBody>
      </p:sp>
      <p:sp>
        <p:nvSpPr>
          <p:cNvPr id="10" name="Rounded Rectangle 9"/>
          <p:cNvSpPr/>
          <p:nvPr/>
        </p:nvSpPr>
        <p:spPr>
          <a:xfrm>
            <a:off x="8016240" y="4599432"/>
            <a:ext cx="3624072" cy="169164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The same lens on the policy</a:t>
            </a:r>
          </a:p>
          <a:p>
            <a:pPr algn="just">
              <a:spcAft>
                <a:spcPts val="400"/>
              </a:spcAft>
            </a:pPr>
            <a:r>
              <a:rPr sz="1200" b="0">
                <a:solidFill>
                  <a:srgbClr val="52514E"/>
                </a:solidFill>
                <a:latin typeface="Calibri"/>
              </a:rPr>
              <a:t>Input-gradient saliency shows the alert logit is essentially a torque-surge detector at 43 % of its gradient, while the reroute logit has no dominant feature at all. Alerting is the learnable part of the patrol task and routing is the hard part, which foreshadows the verdict two slides 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Pareto deployment recommendation</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Cross-family frontier per platform task, ringed points non-dominated, dashed line the platform gate</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Rover → MLP, Humanoid → LSTM, patrol → no pick, because every learned policy alarms 15 to 65× the reference rate.</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pic>
        <p:nvPicPr>
          <p:cNvPr id="7" name="Picture 6" descr="pareto_three_panels_wide.png"/>
          <p:cNvPicPr>
            <a:picLocks noChangeAspect="1"/>
          </p:cNvPicPr>
          <p:nvPr/>
        </p:nvPicPr>
        <p:blipFill>
          <a:blip r:embed="rId2"/>
          <a:stretch>
            <a:fillRect/>
          </a:stretch>
        </p:blipFill>
        <p:spPr>
          <a:xfrm>
            <a:off x="1423892" y="1783080"/>
            <a:ext cx="9343911" cy="2651760"/>
          </a:xfrm>
          <a:prstGeom prst="rect">
            <a:avLst/>
          </a:prstGeom>
        </p:spPr>
      </p:pic>
      <p:sp>
        <p:nvSpPr>
          <p:cNvPr id="8" name="Rounded Rectangle 7"/>
          <p:cNvSpPr/>
          <p:nvPr/>
        </p:nvSpPr>
        <p:spPr>
          <a:xfrm>
            <a:off x="548640" y="4599432"/>
            <a:ext cx="3624072" cy="169164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Aido Rover — the MLP</a:t>
            </a:r>
          </a:p>
          <a:p>
            <a:pPr algn="just">
              <a:spcAft>
                <a:spcPts val="400"/>
              </a:spcAft>
            </a:pPr>
            <a:r>
              <a:rPr sz="1200" b="0">
                <a:solidFill>
                  <a:srgbClr val="52514E"/>
                </a:solidFill>
                <a:latin typeface="Calibri"/>
              </a:rPr>
              <a:t>Tied with the Transformer on score and ahead on latency, fold variance, worst fold and calibration. For the ≤10 ms breach tier a 50-tree depth-6 forest is the fallback, 8.73 → 2.45 ms for −0.021 F1, inside the full model's own fold spread.</a:t>
            </a:r>
          </a:p>
        </p:txBody>
      </p:sp>
      <p:sp>
        <p:nvSpPr>
          <p:cNvPr id="9" name="Rounded Rectangle 8"/>
          <p:cNvSpPr/>
          <p:nvPr/>
        </p:nvSpPr>
        <p:spPr>
          <a:xfrm>
            <a:off x="4282440" y="4599432"/>
            <a:ext cx="3624072" cy="169164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Aido Humanoid — the LSTM</a:t>
            </a:r>
          </a:p>
          <a:p>
            <a:pPr algn="just">
              <a:spcAft>
                <a:spcPts val="400"/>
              </a:spcAft>
            </a:pPr>
            <a:r>
              <a:rPr sz="1200" b="0">
                <a:solidFill>
                  <a:srgbClr val="52514E"/>
                </a:solidFill>
                <a:latin typeface="Calibri"/>
              </a:rPr>
              <a:t>1.44 cm at 0.11 ms, non-dominated and ahead of the Transformer on both axes at once. Linear regression stays the minimal-footprint alternative on motion known to be obstacle-free.</a:t>
            </a:r>
          </a:p>
        </p:txBody>
      </p:sp>
      <p:sp>
        <p:nvSpPr>
          <p:cNvPr id="10" name="Rounded Rectangle 9"/>
          <p:cNvSpPr/>
          <p:nvPr/>
        </p:nvSpPr>
        <p:spPr>
          <a:xfrm>
            <a:off x="8016240" y="4599432"/>
            <a:ext cx="3624072" cy="169164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Aido Rover patrol — no pick, and why</a:t>
            </a:r>
          </a:p>
          <a:p>
            <a:pPr algn="just">
              <a:spcAft>
                <a:spcPts val="400"/>
              </a:spcAft>
            </a:pPr>
            <a:r>
              <a:rPr sz="1200" b="0">
                <a:solidFill>
                  <a:srgbClr val="52514E"/>
                </a:solidFill>
                <a:latin typeface="Calibri"/>
              </a:rPr>
              <a:t>The ordering reverses on every held-out layout, and at 10 Hz the rule policy already deployed alerts once every 27 s while PPO alerts once every 0.4 s. That follows from a reward pricing a caught fault at +5.0 against a false alert at −1.5, so the blocking item is the alert pricing rather than the algorithm.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457200"/>
          </a:xfrm>
          <a:prstGeom prst="rect">
            <a:avLst/>
          </a:prstGeom>
          <a:noFill/>
        </p:spPr>
        <p:txBody>
          <a:bodyPr wrap="square">
            <a:spAutoFit/>
          </a:bodyPr>
          <a:lstStyle/>
          <a:p>
            <a:pPr>
              <a:spcAft>
                <a:spcPts val="0"/>
              </a:spcAft>
            </a:pPr>
            <a:r>
              <a:rPr sz="2300" b="1">
                <a:solidFill>
                  <a:srgbClr val="1A1A1A"/>
                </a:solidFill>
                <a:latin typeface="Calibri"/>
              </a:rPr>
              <a:t>PIC 2.0 readiness and next steps</a:t>
            </a:r>
          </a:p>
        </p:txBody>
      </p:sp>
      <p:sp>
        <p:nvSpPr>
          <p:cNvPr id="3" name="TextBox 2"/>
          <p:cNvSpPr txBox="1"/>
          <p:nvPr/>
        </p:nvSpPr>
        <p:spPr>
          <a:xfrm>
            <a:off x="548640" y="777240"/>
            <a:ext cx="11091672" cy="274320"/>
          </a:xfrm>
          <a:prstGeom prst="rect">
            <a:avLst/>
          </a:prstGeom>
          <a:noFill/>
        </p:spPr>
        <p:txBody>
          <a:bodyPr wrap="square">
            <a:spAutoFit/>
          </a:bodyPr>
          <a:lstStyle/>
          <a:p>
            <a:pPr>
              <a:spcAft>
                <a:spcPts val="0"/>
              </a:spcAft>
            </a:pPr>
            <a:r>
              <a:rPr sz="1250" b="0">
                <a:solidFill>
                  <a:srgbClr val="898781"/>
                </a:solidFill>
                <a:latin typeface="Calibri"/>
              </a:rPr>
              <a:t>The same six classes as slide 2, now scored against what the evidence supports for a deployed platform</a:t>
            </a:r>
          </a:p>
        </p:txBody>
      </p:sp>
      <p:sp>
        <p:nvSpPr>
          <p:cNvPr id="4" name="Rectangle 3"/>
          <p:cNvSpPr/>
          <p:nvPr/>
        </p:nvSpPr>
        <p:spPr>
          <a:xfrm>
            <a:off x="548640" y="1097280"/>
            <a:ext cx="11091672" cy="27432"/>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25296"/>
            <a:ext cx="11091672" cy="502920"/>
          </a:xfrm>
          <a:prstGeom prst="rect">
            <a:avLst/>
          </a:prstGeom>
          <a:noFill/>
        </p:spPr>
        <p:txBody>
          <a:bodyPr wrap="square">
            <a:spAutoFit/>
          </a:bodyPr>
          <a:lstStyle/>
          <a:p>
            <a:pPr>
              <a:spcAft>
                <a:spcPts val="0"/>
              </a:spcAft>
            </a:pPr>
            <a:r>
              <a:rPr sz="1500" b="1">
                <a:solidFill>
                  <a:srgbClr val="1A1A1A"/>
                </a:solidFill>
                <a:latin typeface="Calibri"/>
              </a:rPr>
              <a:t>Four classes reach 3 of 5; AMDC at 2 and CRL-MRS at 1 set the order of the next three experiments.</a:t>
            </a:r>
          </a:p>
        </p:txBody>
      </p:sp>
      <p:sp>
        <p:nvSpPr>
          <p:cNvPr id="6" name="TextBox 5"/>
          <p:cNvSpPr txBox="1"/>
          <p:nvPr/>
        </p:nvSpPr>
        <p:spPr>
          <a:xfrm>
            <a:off x="548640" y="6510528"/>
            <a:ext cx="8229600" cy="274320"/>
          </a:xfrm>
          <a:prstGeom prst="rect">
            <a:avLst/>
          </a:prstGeom>
          <a:noFill/>
        </p:spPr>
        <p:txBody>
          <a:bodyPr wrap="square">
            <a:spAutoFit/>
          </a:bodyPr>
          <a:lstStyle/>
          <a:p>
            <a:pPr>
              <a:spcAft>
                <a:spcPts val="0"/>
              </a:spcAft>
            </a:pPr>
            <a:r>
              <a:rPr sz="900" b="0">
                <a:solidFill>
                  <a:srgbClr val="898781"/>
                </a:solidFill>
                <a:latin typeface="Calibri"/>
              </a:rPr>
              <a:t>InGen Dynamics · ML &amp; NN Analyst Internship — Capstone Review (W1–W8)</a:t>
            </a:r>
          </a:p>
        </p:txBody>
      </p:sp>
      <p:graphicFrame>
        <p:nvGraphicFramePr>
          <p:cNvPr id="7" name="Table 6"/>
          <p:cNvGraphicFramePr>
            <a:graphicFrameLocks noGrp="1"/>
          </p:cNvGraphicFramePr>
          <p:nvPr/>
        </p:nvGraphicFramePr>
        <p:xfrm>
          <a:off x="548640" y="1783080"/>
          <a:ext cx="11091671" cy="2468880"/>
        </p:xfrm>
        <a:graphic>
          <a:graphicData uri="http://schemas.openxmlformats.org/drawingml/2006/table">
            <a:tbl>
              <a:tblPr firstRow="1" bandRow="1">
                <a:tableStyleId>{5C22544A-7EE6-4342-B048-85BDC9FD1C3A}</a:tableStyleId>
              </a:tblPr>
              <a:tblGrid>
                <a:gridCol w="1344445"/>
                <a:gridCol w="1344445"/>
                <a:gridCol w="5041669"/>
                <a:gridCol w="3361112"/>
              </a:tblGrid>
              <a:tr h="352697">
                <a:tc>
                  <a:txBody>
                    <a:bodyPr/>
                    <a:lstStyle/>
                    <a:p>
                      <a:pPr algn="l"/>
                      <a:r>
                        <a:rPr sz="1000" b="1">
                          <a:solidFill>
                            <a:srgbClr val="FFFFFF"/>
                          </a:solidFill>
                          <a:latin typeface="Calibri"/>
                        </a:rPr>
                        <a:t>Class</a:t>
                      </a:r>
                    </a:p>
                  </a:txBody>
                  <a:tcPr marL="54864" marR="54864" marT="18288" marB="18288">
                    <a:solidFill>
                      <a:srgbClr val="1C5CAB"/>
                    </a:solidFill>
                  </a:tcPr>
                </a:tc>
                <a:tc>
                  <a:txBody>
                    <a:bodyPr/>
                    <a:lstStyle/>
                    <a:p>
                      <a:pPr algn="l"/>
                      <a:r>
                        <a:rPr sz="1000" b="1">
                          <a:solidFill>
                            <a:srgbClr val="FFFFFF"/>
                          </a:solidFill>
                          <a:latin typeface="Calibri"/>
                        </a:rPr>
                        <a:t>Readiness</a:t>
                      </a:r>
                    </a:p>
                  </a:txBody>
                  <a:tcPr marL="54864" marR="54864" marT="18288" marB="18288">
                    <a:solidFill>
                      <a:srgbClr val="1C5CAB"/>
                    </a:solidFill>
                  </a:tcPr>
                </a:tc>
                <a:tc>
                  <a:txBody>
                    <a:bodyPr/>
                    <a:lstStyle/>
                    <a:p>
                      <a:pPr algn="l"/>
                      <a:r>
                        <a:rPr sz="1000" b="1">
                          <a:solidFill>
                            <a:srgbClr val="FFFFFF"/>
                          </a:solidFill>
                          <a:latin typeface="Calibri"/>
                        </a:rPr>
                        <a:t>Evidence that sets the score</a:t>
                      </a:r>
                    </a:p>
                  </a:txBody>
                  <a:tcPr marL="54864" marR="54864" marT="18288" marB="18288">
                    <a:solidFill>
                      <a:srgbClr val="1C5CAB"/>
                    </a:solidFill>
                  </a:tcPr>
                </a:tc>
                <a:tc>
                  <a:txBody>
                    <a:bodyPr/>
                    <a:lstStyle/>
                    <a:p>
                      <a:pPr algn="l"/>
                      <a:r>
                        <a:rPr sz="1000" b="1">
                          <a:solidFill>
                            <a:srgbClr val="FFFFFF"/>
                          </a:solidFill>
                          <a:latin typeface="Calibri"/>
                        </a:rPr>
                        <a:t>Priority next experiment</a:t>
                      </a:r>
                    </a:p>
                  </a:txBody>
                  <a:tcPr marL="54864" marR="54864" marT="18288" marB="18288">
                    <a:solidFill>
                      <a:srgbClr val="1C5CAB"/>
                    </a:solidFill>
                  </a:tcPr>
                </a:tc>
              </a:tr>
              <a:tr h="352697">
                <a:tc>
                  <a:txBody>
                    <a:bodyPr/>
                    <a:lstStyle/>
                    <a:p>
                      <a:pPr algn="l"/>
                      <a:r>
                        <a:rPr sz="1000" b="0">
                          <a:solidFill>
                            <a:srgbClr val="52514E"/>
                          </a:solidFill>
                          <a:latin typeface="Calibri"/>
                        </a:rPr>
                        <a:t>GRPO</a:t>
                      </a:r>
                    </a:p>
                  </a:txBody>
                  <a:tcPr marL="54864" marR="54864" marT="18288" marB="18288">
                    <a:solidFill>
                      <a:srgbClr val="F2F5FA"/>
                    </a:solidFill>
                  </a:tcPr>
                </a:tc>
                <a:tc>
                  <a:txBody>
                    <a:bodyPr/>
                    <a:lstStyle/>
                    <a:p>
                      <a:pPr algn="l"/>
                      <a:r>
                        <a:rPr sz="1000" b="0">
                          <a:solidFill>
                            <a:srgbClr val="52514E"/>
                          </a:solidFill>
                          <a:latin typeface="Calibri"/>
                        </a:rPr>
                        <a:t>3 / 5</a:t>
                      </a:r>
                    </a:p>
                  </a:txBody>
                  <a:tcPr marL="54864" marR="54864" marT="18288" marB="18288">
                    <a:solidFill>
                      <a:srgbClr val="F2F5FA"/>
                    </a:solidFill>
                  </a:tcPr>
                </a:tc>
                <a:tc>
                  <a:txBody>
                    <a:bodyPr/>
                    <a:lstStyle/>
                    <a:p>
                      <a:pPr algn="l"/>
                      <a:r>
                        <a:rPr sz="1000" b="0">
                          <a:solidFill>
                            <a:srgbClr val="52514E"/>
                          </a:solidFill>
                          <a:latin typeface="Calibri"/>
                        </a:rPr>
                        <a:t>warm start is a precondition; held-out layouts reverse the ordering</a:t>
                      </a:r>
                    </a:p>
                  </a:txBody>
                  <a:tcPr marL="54864" marR="54864" marT="18288" marB="18288">
                    <a:solidFill>
                      <a:srgbClr val="F2F5FA"/>
                    </a:solidFill>
                  </a:tcPr>
                </a:tc>
                <a:tc>
                  <a:txBody>
                    <a:bodyPr/>
                    <a:lstStyle/>
                    <a:p>
                      <a:pPr algn="l"/>
                      <a:r>
                        <a:rPr sz="1000" b="0">
                          <a:solidFill>
                            <a:srgbClr val="52514E"/>
                          </a:solidFill>
                          <a:latin typeface="Calibri"/>
                        </a:rPr>
                        <a:t>layout sweep at all five seeds</a:t>
                      </a:r>
                    </a:p>
                  </a:txBody>
                  <a:tcPr marL="54864" marR="54864" marT="18288" marB="18288">
                    <a:solidFill>
                      <a:srgbClr val="F2F5FA"/>
                    </a:solidFill>
                  </a:tcPr>
                </a:tc>
              </a:tr>
              <a:tr h="352697">
                <a:tc>
                  <a:txBody>
                    <a:bodyPr/>
                    <a:lstStyle/>
                    <a:p>
                      <a:pPr algn="l"/>
                      <a:r>
                        <a:rPr sz="1000" b="0">
                          <a:solidFill>
                            <a:srgbClr val="52514E"/>
                          </a:solidFill>
                          <a:latin typeface="Calibri"/>
                        </a:rPr>
                        <a:t>SEOM</a:t>
                      </a:r>
                    </a:p>
                  </a:txBody>
                  <a:tcPr marL="54864" marR="54864" marT="18288" marB="18288">
                    <a:solidFill>
                      <a:srgbClr val="FFFFFF"/>
                    </a:solidFill>
                  </a:tcPr>
                </a:tc>
                <a:tc>
                  <a:txBody>
                    <a:bodyPr/>
                    <a:lstStyle/>
                    <a:p>
                      <a:pPr algn="l"/>
                      <a:r>
                        <a:rPr sz="1000" b="0">
                          <a:solidFill>
                            <a:srgbClr val="52514E"/>
                          </a:solidFill>
                          <a:latin typeface="Calibri"/>
                        </a:rPr>
                        <a:t>3 / 5</a:t>
                      </a:r>
                    </a:p>
                  </a:txBody>
                  <a:tcPr marL="54864" marR="54864" marT="18288" marB="18288">
                    <a:solidFill>
                      <a:srgbClr val="FFFFFF"/>
                    </a:solidFill>
                  </a:tcPr>
                </a:tc>
                <a:tc>
                  <a:txBody>
                    <a:bodyPr/>
                    <a:lstStyle/>
                    <a:p>
                      <a:pPr algn="l"/>
                      <a:r>
                        <a:rPr sz="1000" b="0">
                          <a:solidFill>
                            <a:srgbClr val="52514E"/>
                          </a:solidFill>
                          <a:latin typeface="Calibri"/>
                        </a:rPr>
                        <a:t>penalty takes depletion 26 % → 0 at a return cost of 5,190 → 998</a:t>
                      </a:r>
                    </a:p>
                  </a:txBody>
                  <a:tcPr marL="54864" marR="54864" marT="18288" marB="18288">
                    <a:solidFill>
                      <a:srgbClr val="FFFFFF"/>
                    </a:solidFill>
                  </a:tcPr>
                </a:tc>
                <a:tc>
                  <a:txBody>
                    <a:bodyPr/>
                    <a:lstStyle/>
                    <a:p>
                      <a:pPr algn="l"/>
                      <a:r>
                        <a:rPr sz="1000" b="0">
                          <a:solidFill>
                            <a:srgbClr val="52514E"/>
                          </a:solidFill>
                          <a:latin typeface="Calibri"/>
                        </a:rPr>
                        <a:t>sweep the penalty weight</a:t>
                      </a:r>
                    </a:p>
                  </a:txBody>
                  <a:tcPr marL="54864" marR="54864" marT="18288" marB="18288">
                    <a:solidFill>
                      <a:srgbClr val="FFFFFF"/>
                    </a:solidFill>
                  </a:tcPr>
                </a:tc>
              </a:tr>
              <a:tr h="352697">
                <a:tc>
                  <a:txBody>
                    <a:bodyPr/>
                    <a:lstStyle/>
                    <a:p>
                      <a:pPr algn="l"/>
                      <a:r>
                        <a:rPr sz="1000" b="0">
                          <a:solidFill>
                            <a:srgbClr val="52514E"/>
                          </a:solidFill>
                          <a:latin typeface="Calibri"/>
                        </a:rPr>
                        <a:t>HTD-IRL</a:t>
                      </a:r>
                    </a:p>
                  </a:txBody>
                  <a:tcPr marL="54864" marR="54864" marT="18288" marB="18288">
                    <a:solidFill>
                      <a:srgbClr val="F2F5FA"/>
                    </a:solidFill>
                  </a:tcPr>
                </a:tc>
                <a:tc>
                  <a:txBody>
                    <a:bodyPr/>
                    <a:lstStyle/>
                    <a:p>
                      <a:pPr algn="l"/>
                      <a:r>
                        <a:rPr sz="1000" b="0">
                          <a:solidFill>
                            <a:srgbClr val="52514E"/>
                          </a:solidFill>
                          <a:latin typeface="Calibri"/>
                        </a:rPr>
                        <a:t>3 / 5</a:t>
                      </a:r>
                    </a:p>
                  </a:txBody>
                  <a:tcPr marL="54864" marR="54864" marT="18288" marB="18288">
                    <a:solidFill>
                      <a:srgbClr val="F2F5FA"/>
                    </a:solidFill>
                  </a:tcPr>
                </a:tc>
                <a:tc>
                  <a:txBody>
                    <a:bodyPr/>
                    <a:lstStyle/>
                    <a:p>
                      <a:pPr algn="l"/>
                      <a:r>
                        <a:rPr sz="1000" b="0">
                          <a:solidFill>
                            <a:srgbClr val="52514E"/>
                          </a:solidFill>
                          <a:latin typeface="Calibri"/>
                        </a:rPr>
                        <a:t>hierarchy lifts rerouting 0.34 → 0.82, controllers still privileged</a:t>
                      </a:r>
                    </a:p>
                  </a:txBody>
                  <a:tcPr marL="54864" marR="54864" marT="18288" marB="18288">
                    <a:solidFill>
                      <a:srgbClr val="F2F5FA"/>
                    </a:solidFill>
                  </a:tcPr>
                </a:tc>
                <a:tc>
                  <a:txBody>
                    <a:bodyPr/>
                    <a:lstStyle/>
                    <a:p>
                      <a:pPr algn="l"/>
                      <a:r>
                        <a:rPr sz="1000" b="0">
                          <a:solidFill>
                            <a:srgbClr val="52514E"/>
                          </a:solidFill>
                          <a:latin typeface="Calibri"/>
                        </a:rPr>
                        <a:t>sensor-window alerting in the options</a:t>
                      </a:r>
                    </a:p>
                  </a:txBody>
                  <a:tcPr marL="54864" marR="54864" marT="18288" marB="18288">
                    <a:solidFill>
                      <a:srgbClr val="F2F5FA"/>
                    </a:solidFill>
                  </a:tcPr>
                </a:tc>
              </a:tr>
              <a:tr h="352697">
                <a:tc>
                  <a:txBody>
                    <a:bodyPr/>
                    <a:lstStyle/>
                    <a:p>
                      <a:pPr algn="l"/>
                      <a:r>
                        <a:rPr sz="1000" b="0">
                          <a:solidFill>
                            <a:srgbClr val="52514E"/>
                          </a:solidFill>
                          <a:latin typeface="Calibri"/>
                        </a:rPr>
                        <a:t>STUM</a:t>
                      </a:r>
                    </a:p>
                  </a:txBody>
                  <a:tcPr marL="54864" marR="54864" marT="18288" marB="18288">
                    <a:solidFill>
                      <a:srgbClr val="FFFFFF"/>
                    </a:solidFill>
                  </a:tcPr>
                </a:tc>
                <a:tc>
                  <a:txBody>
                    <a:bodyPr/>
                    <a:lstStyle/>
                    <a:p>
                      <a:pPr algn="l"/>
                      <a:r>
                        <a:rPr sz="1000" b="0">
                          <a:solidFill>
                            <a:srgbClr val="52514E"/>
                          </a:solidFill>
                          <a:latin typeface="Calibri"/>
                        </a:rPr>
                        <a:t>3 / 5</a:t>
                      </a:r>
                    </a:p>
                  </a:txBody>
                  <a:tcPr marL="54864" marR="54864" marT="18288" marB="18288">
                    <a:solidFill>
                      <a:srgbClr val="FFFFFF"/>
                    </a:solidFill>
                  </a:tcPr>
                </a:tc>
                <a:tc>
                  <a:txBody>
                    <a:bodyPr/>
                    <a:lstStyle/>
                    <a:p>
                      <a:pPr algn="l"/>
                      <a:r>
                        <a:rPr sz="1000" b="0">
                          <a:solidFill>
                            <a:srgbClr val="52514E"/>
                          </a:solidFill>
                          <a:latin typeface="Calibri"/>
                        </a:rPr>
                        <a:t>MLP meets the ECE target raw, 0.025 against 0.031</a:t>
                      </a:r>
                    </a:p>
                  </a:txBody>
                  <a:tcPr marL="54864" marR="54864" marT="18288" marB="18288">
                    <a:solidFill>
                      <a:srgbClr val="FFFFFF"/>
                    </a:solidFill>
                  </a:tcPr>
                </a:tc>
                <a:tc>
                  <a:txBody>
                    <a:bodyPr/>
                    <a:lstStyle/>
                    <a:p>
                      <a:pPr algn="l"/>
                      <a:r>
                        <a:rPr sz="1000" b="0">
                          <a:solidFill>
                            <a:srgbClr val="52514E"/>
                          </a:solidFill>
                          <a:latin typeface="Calibri"/>
                        </a:rPr>
                        <a:t>calibration transfer across folds</a:t>
                      </a:r>
                    </a:p>
                  </a:txBody>
                  <a:tcPr marL="54864" marR="54864" marT="18288" marB="18288">
                    <a:solidFill>
                      <a:srgbClr val="FFFFFF"/>
                    </a:solidFill>
                  </a:tcPr>
                </a:tc>
              </a:tr>
              <a:tr h="352697">
                <a:tc>
                  <a:txBody>
                    <a:bodyPr/>
                    <a:lstStyle/>
                    <a:p>
                      <a:pPr algn="l"/>
                      <a:r>
                        <a:rPr sz="1000" b="0">
                          <a:solidFill>
                            <a:srgbClr val="52514E"/>
                          </a:solidFill>
                          <a:latin typeface="Calibri"/>
                        </a:rPr>
                        <a:t>AMDC</a:t>
                      </a:r>
                    </a:p>
                  </a:txBody>
                  <a:tcPr marL="54864" marR="54864" marT="18288" marB="18288">
                    <a:solidFill>
                      <a:srgbClr val="F2F5FA"/>
                    </a:solidFill>
                  </a:tcPr>
                </a:tc>
                <a:tc>
                  <a:txBody>
                    <a:bodyPr/>
                    <a:lstStyle/>
                    <a:p>
                      <a:pPr algn="l"/>
                      <a:r>
                        <a:rPr sz="1000" b="0">
                          <a:solidFill>
                            <a:srgbClr val="52514E"/>
                          </a:solidFill>
                          <a:latin typeface="Calibri"/>
                        </a:rPr>
                        <a:t>2 / 5</a:t>
                      </a:r>
                    </a:p>
                  </a:txBody>
                  <a:tcPr marL="54864" marR="54864" marT="18288" marB="18288">
                    <a:solidFill>
                      <a:srgbClr val="F2F5FA"/>
                    </a:solidFill>
                  </a:tcPr>
                </a:tc>
                <a:tc>
                  <a:txBody>
                    <a:bodyPr/>
                    <a:lstStyle/>
                    <a:p>
                      <a:pPr algn="l"/>
                      <a:r>
                        <a:rPr sz="1000" b="0">
                          <a:solidFill>
                            <a:srgbClr val="52514E"/>
                          </a:solidFill>
                          <a:latin typeface="Calibri"/>
                        </a:rPr>
                        <a:t>cross-channel features carry the attribution mass, no drift injected</a:t>
                      </a:r>
                    </a:p>
                  </a:txBody>
                  <a:tcPr marL="54864" marR="54864" marT="18288" marB="18288">
                    <a:solidFill>
                      <a:srgbClr val="F2F5FA"/>
                    </a:solidFill>
                  </a:tcPr>
                </a:tc>
                <a:tc>
                  <a:txBody>
                    <a:bodyPr/>
                    <a:lstStyle/>
                    <a:p>
                      <a:pPr algn="l"/>
                      <a:r>
                        <a:rPr sz="1000" b="0">
                          <a:solidFill>
                            <a:srgbClr val="52514E"/>
                          </a:solidFill>
                          <a:latin typeface="Calibri"/>
                        </a:rPr>
                        <a:t>inject per-sensor gain and offset drift</a:t>
                      </a:r>
                    </a:p>
                  </a:txBody>
                  <a:tcPr marL="54864" marR="54864" marT="18288" marB="18288">
                    <a:solidFill>
                      <a:srgbClr val="F2F5FA"/>
                    </a:solidFill>
                  </a:tcPr>
                </a:tc>
              </a:tr>
              <a:tr h="352698">
                <a:tc>
                  <a:txBody>
                    <a:bodyPr/>
                    <a:lstStyle/>
                    <a:p>
                      <a:pPr algn="l"/>
                      <a:r>
                        <a:rPr sz="1000" b="0">
                          <a:solidFill>
                            <a:srgbClr val="52514E"/>
                          </a:solidFill>
                          <a:latin typeface="Calibri"/>
                        </a:rPr>
                        <a:t>CRL-MRS</a:t>
                      </a:r>
                    </a:p>
                  </a:txBody>
                  <a:tcPr marL="54864" marR="54864" marT="18288" marB="18288">
                    <a:solidFill>
                      <a:srgbClr val="FFFFFF"/>
                    </a:solidFill>
                  </a:tcPr>
                </a:tc>
                <a:tc>
                  <a:txBody>
                    <a:bodyPr/>
                    <a:lstStyle/>
                    <a:p>
                      <a:pPr algn="l"/>
                      <a:r>
                        <a:rPr sz="1000" b="0">
                          <a:solidFill>
                            <a:srgbClr val="52514E"/>
                          </a:solidFill>
                          <a:latin typeface="Calibri"/>
                        </a:rPr>
                        <a:t>1 / 5</a:t>
                      </a:r>
                    </a:p>
                  </a:txBody>
                  <a:tcPr marL="54864" marR="54864" marT="18288" marB="18288">
                    <a:solidFill>
                      <a:srgbClr val="FFFFFF"/>
                    </a:solidFill>
                  </a:tcPr>
                </a:tc>
                <a:tc>
                  <a:txBody>
                    <a:bodyPr/>
                    <a:lstStyle/>
                    <a:p>
                      <a:pPr algn="l"/>
                      <a:r>
                        <a:rPr sz="1000" b="0">
                          <a:solidFill>
                            <a:srgbClr val="52514E"/>
                          </a:solidFill>
                          <a:latin typeface="Calibri"/>
                        </a:rPr>
                        <a:t>a structural null at ~30 credit-assignment updates per 1M steps</a:t>
                      </a:r>
                    </a:p>
                  </a:txBody>
                  <a:tcPr marL="54864" marR="54864" marT="18288" marB="18288">
                    <a:solidFill>
                      <a:srgbClr val="FFFFFF"/>
                    </a:solidFill>
                  </a:tcPr>
                </a:tc>
                <a:tc>
                  <a:txBody>
                    <a:bodyPr/>
                    <a:lstStyle/>
                    <a:p>
                      <a:pPr algn="l"/>
                      <a:r>
                        <a:rPr sz="1000" b="0">
                          <a:solidFill>
                            <a:srgbClr val="52514E"/>
                          </a:solidFill>
                          <a:latin typeface="Calibri"/>
                        </a:rPr>
                        <a:t>a macro-action decision level</a:t>
                      </a:r>
                    </a:p>
                  </a:txBody>
                  <a:tcPr marL="54864" marR="54864" marT="18288" marB="18288">
                    <a:solidFill>
                      <a:srgbClr val="FFFFFF"/>
                    </a:solidFill>
                  </a:tcPr>
                </a:tc>
              </a:tr>
            </a:tbl>
          </a:graphicData>
        </a:graphic>
      </p:graphicFrame>
      <p:sp>
        <p:nvSpPr>
          <p:cNvPr id="8" name="Rounded Rectangle 7"/>
          <p:cNvSpPr/>
          <p:nvPr/>
        </p:nvSpPr>
        <p:spPr>
          <a:xfrm>
            <a:off x="548640" y="4416552"/>
            <a:ext cx="3624072" cy="187452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Synthetic-data validity</a:t>
            </a:r>
          </a:p>
          <a:p>
            <a:pPr algn="just">
              <a:spcAft>
                <a:spcPts val="400"/>
              </a:spcAft>
            </a:pPr>
            <a:r>
              <a:rPr sz="1200" b="0">
                <a:solidFill>
                  <a:srgbClr val="52514E"/>
                </a:solidFill>
                <a:latin typeface="Calibri"/>
              </a:rPr>
              <a:t>One map topology throughout, and the cross-layout result shows a winner can reverse when only the terrain changes.</a:t>
            </a:r>
          </a:p>
        </p:txBody>
      </p:sp>
      <p:sp>
        <p:nvSpPr>
          <p:cNvPr id="9" name="Rounded Rectangle 8"/>
          <p:cNvSpPr/>
          <p:nvPr/>
        </p:nvSpPr>
        <p:spPr>
          <a:xfrm>
            <a:off x="4282440" y="4416552"/>
            <a:ext cx="3624072" cy="187452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Privileged components</a:t>
            </a:r>
          </a:p>
          <a:p>
            <a:pPr algn="just">
              <a:spcAft>
                <a:spcPts val="400"/>
              </a:spcAft>
            </a:pPr>
            <a:r>
              <a:rPr sz="1200" b="0">
                <a:solidFill>
                  <a:srgbClr val="52514E"/>
                </a:solidFill>
                <a:latin typeface="Calibri"/>
              </a:rPr>
              <a:t>The hierarchy's option controllers and the IRL demonstrations both read the ground-truth label, so those results sit outside the deployable bracket.</a:t>
            </a:r>
          </a:p>
        </p:txBody>
      </p:sp>
      <p:sp>
        <p:nvSpPr>
          <p:cNvPr id="10" name="Rounded Rectangle 9"/>
          <p:cNvSpPr/>
          <p:nvPr/>
        </p:nvSpPr>
        <p:spPr>
          <a:xfrm>
            <a:off x="8016240" y="4416552"/>
            <a:ext cx="3624072" cy="1874520"/>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just">
              <a:spcAft>
                <a:spcPts val="400"/>
              </a:spcAft>
            </a:pPr>
            <a:r>
              <a:rPr sz="1250" b="1">
                <a:solidFill>
                  <a:srgbClr val="1C5CAB"/>
                </a:solidFill>
                <a:latin typeface="Calibri"/>
              </a:rPr>
              <a:t>Reward pricing</a:t>
            </a:r>
          </a:p>
          <a:p>
            <a:pPr algn="just">
              <a:spcAft>
                <a:spcPts val="400"/>
              </a:spcAft>
            </a:pPr>
            <a:r>
              <a:rPr sz="1200" b="0">
                <a:solidFill>
                  <a:srgbClr val="52514E"/>
                </a:solidFill>
                <a:latin typeface="Calibri"/>
              </a:rPr>
              <a:t>The patrol reward makes alarm-spam the rational response, which blocks any policy recommendation until the alert terms are re-priced.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