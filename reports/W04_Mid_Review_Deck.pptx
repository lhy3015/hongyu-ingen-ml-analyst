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8" r:id="rId4"/>
    <p:sldId id="257" r:id="rId5"/>
    <p:sldId id="260" r:id="rId6"/>
    <p:sldId id="261" r:id="rId7"/>
    <p:sldId id="262" r:id="rId8"/>
    <p:sldId id="263" r:id="rId9"/>
    <p:sldId id="264" r:id="rId10"/>
  </p:sldIdLst>
  <p:sldSz cx="1219073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09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47088"/>
            <a:ext cx="9994392" cy="6492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4000" b="1">
                <a:solidFill>
                  <a:srgbClr val="1A1A1A"/>
                </a:solidFill>
                <a:latin typeface="Calibri" panose="020F0502020204030204"/>
              </a:rPr>
              <a:t>Mid-Point Review</a:t>
            </a:r>
            <a:endParaRPr sz="4000" b="1">
              <a:solidFill>
                <a:srgbClr val="1A1A1A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97280" y="2761488"/>
            <a:ext cx="99943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900" b="0">
                <a:solidFill>
                  <a:srgbClr val="52514E"/>
                </a:solidFill>
                <a:latin typeface="Calibri" panose="020F0502020204030204"/>
              </a:rPr>
              <a:t>ML &amp; NN Analyst Internship · InGen Dynamics</a:t>
            </a:r>
            <a:endParaRPr sz="1900" b="0">
              <a:solidFill>
                <a:srgbClr val="52514E"/>
              </a:solidFill>
              <a:latin typeface="Calibri" panose="020F05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97280" y="3456432"/>
            <a:ext cx="99943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0">
                <a:solidFill>
                  <a:srgbClr val="52514E"/>
                </a:solidFill>
                <a:latin typeface="Calibri" panose="020F0502020204030204"/>
              </a:rPr>
              <a:t>Hongyu Liu · July 2026</a:t>
            </a:r>
            <a:endParaRPr sz="1500" b="0">
              <a:solidFill>
                <a:srgbClr val="52514E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" y="3913632"/>
            <a:ext cx="99943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400" b="0">
                <a:solidFill>
                  <a:srgbClr val="898781"/>
                </a:solidFill>
                <a:latin typeface="Calibri" panose="020F0502020204030204"/>
              </a:rPr>
              <a:t>Phase A (foundations) and Phase B (neural &amp; sequence models) complete · Phase C (reinforcement learning) next</a:t>
            </a:r>
            <a:endParaRPr sz="1400" b="0">
              <a:solidFill>
                <a:srgbClr val="898781"/>
              </a:solidFill>
              <a:latin typeface="Calibri" panose="020F0502020204030204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389888" y="4617720"/>
            <a:ext cx="2743200" cy="1170432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800" b="1">
                <a:solidFill>
                  <a:srgbClr val="1C5CAB"/>
                </a:solidFill>
                <a:latin typeface="Calibri" panose="020F0502020204030204"/>
              </a:rPr>
              <a:t>1 world core</a:t>
            </a:r>
            <a:endParaRPr sz="1800" b="1">
              <a:solidFill>
                <a:srgbClr val="1C5CAB"/>
              </a:solidFill>
              <a:latin typeface="Calibri" panose="020F0502020204030204"/>
            </a:endParaRPr>
          </a:p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2514E"/>
                </a:solidFill>
                <a:latin typeface="Calibri" panose="020F0502020204030204"/>
              </a:rPr>
              <a:t>one generator, one canonical</a:t>
            </a:r>
            <a:endParaRPr sz="1100" b="0">
              <a:solidFill>
                <a:srgbClr val="52514E"/>
              </a:solidFill>
              <a:latin typeface="Calibri" panose="020F0502020204030204"/>
            </a:endParaRPr>
          </a:p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2514E"/>
                </a:solidFill>
                <a:latin typeface="Calibri" panose="020F0502020204030204"/>
              </a:rPr>
              <a:t>leakage-safe split, one ledger</a:t>
            </a:r>
            <a:endParaRPr sz="1100" b="0">
              <a:solidFill>
                <a:srgbClr val="52514E"/>
              </a:solidFill>
              <a:latin typeface="Calibri" panose="020F0502020204030204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727448" y="4617720"/>
            <a:ext cx="2743200" cy="1170432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800" b="1">
                <a:solidFill>
                  <a:srgbClr val="1C5CAB"/>
                </a:solidFill>
                <a:latin typeface="Calibri" panose="020F0502020204030204"/>
              </a:rPr>
              <a:t>11 models</a:t>
            </a:r>
            <a:endParaRPr sz="1800" b="1">
              <a:solidFill>
                <a:srgbClr val="1C5CAB"/>
              </a:solidFill>
              <a:latin typeface="Calibri" panose="020F0502020204030204"/>
            </a:endParaRPr>
          </a:p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2514E"/>
                </a:solidFill>
                <a:latin typeface="Calibri" panose="020F0502020204030204"/>
              </a:rPr>
              <a:t>6 anomaly detectors + 5 trajectory</a:t>
            </a:r>
            <a:endParaRPr sz="1100" b="0">
              <a:solidFill>
                <a:srgbClr val="52514E"/>
              </a:solidFill>
              <a:latin typeface="Calibri" panose="020F0502020204030204"/>
            </a:endParaRPr>
          </a:p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2514E"/>
                </a:solidFill>
                <a:latin typeface="Calibri" panose="020F0502020204030204"/>
              </a:rPr>
              <a:t>regressors, one shared protocol</a:t>
            </a:r>
            <a:endParaRPr sz="1100" b="0">
              <a:solidFill>
                <a:srgbClr val="52514E"/>
              </a:solidFill>
              <a:latin typeface="Calibri" panose="020F050202020403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8065008" y="4617720"/>
            <a:ext cx="2743200" cy="1170432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800" b="1">
                <a:solidFill>
                  <a:srgbClr val="1C5CAB"/>
                </a:solidFill>
                <a:latin typeface="Calibri" panose="020F0502020204030204"/>
              </a:rPr>
              <a:t>All gates PASS</a:t>
            </a:r>
            <a:endParaRPr sz="1800" b="1">
              <a:solidFill>
                <a:srgbClr val="1C5CAB"/>
              </a:solidFill>
              <a:latin typeface="Calibri" panose="020F0502020204030204"/>
            </a:endParaRPr>
          </a:p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2514E"/>
                </a:solidFill>
                <a:latin typeface="Calibri" panose="020F0502020204030204"/>
              </a:rPr>
              <a:t>100 ms Aido Rover streaming ·</a:t>
            </a:r>
            <a:endParaRPr sz="1100" b="0">
              <a:solidFill>
                <a:srgbClr val="52514E"/>
              </a:solidFill>
              <a:latin typeface="Calibri" panose="020F0502020204030204"/>
            </a:endParaRPr>
          </a:p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2514E"/>
                </a:solidFill>
                <a:latin typeface="Calibri" panose="020F0502020204030204"/>
              </a:rPr>
              <a:t>50 ms Aido Humanoid planning</a:t>
            </a:r>
            <a:endParaRPr sz="1100" b="0">
              <a:solidFill>
                <a:srgbClr val="52514E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98781"/>
                </a:solidFill>
                <a:latin typeface="Calibri" panose="020F0502020204030204"/>
              </a:rPr>
              <a:t>InGen Dynamics · ML &amp; NN Analyst Internship — Mid-Point Review (W1–W4)</a:t>
            </a:r>
            <a:endParaRPr sz="900" b="0">
              <a:solidFill>
                <a:srgbClr val="898781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374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A1A1A"/>
                </a:solidFill>
                <a:latin typeface="Calibri" panose="020F0502020204030204"/>
              </a:rPr>
              <a:t>One world core, one split, one standard</a:t>
            </a:r>
            <a:endParaRPr sz="2300" b="1">
              <a:solidFill>
                <a:srgbClr val="1A1A1A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804672"/>
            <a:ext cx="1109167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52514E"/>
                </a:solidFill>
                <a:latin typeface="Calibri" panose="020F0502020204030204"/>
              </a:rPr>
              <a:t>Weeks 2–4 · the shared scaffolding and feature pipeline behind every number in this deck</a:t>
            </a:r>
            <a:endParaRPr sz="1300" b="0">
              <a:solidFill>
                <a:srgbClr val="52514E"/>
              </a:solidFill>
              <a:latin typeface="Calibri" panose="020F050202020403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27432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98781"/>
                </a:solidFill>
                <a:latin typeface="Calibri" panose="020F0502020204030204"/>
              </a:rPr>
              <a:t>InGen Dynamics · ML &amp; NN Analyst Internship — Mid-Point Review (W1–W4)</a:t>
            </a:r>
            <a:endParaRPr sz="900" b="0">
              <a:solidFill>
                <a:srgbClr val="898781"/>
              </a:solidFill>
              <a:latin typeface="Calibri" panose="020F0502020204030204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48640" y="1517904"/>
            <a:ext cx="3630168" cy="1810512"/>
          </a:xfrm>
          <a:prstGeom prst="roundRect">
            <a:avLst>
              <a:gd name="adj" fmla="val 45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t"/>
          <a:lstStyle/>
          <a:p>
            <a:pPr algn="just">
              <a:lnSpc>
                <a:spcPct val="100000"/>
              </a:lnSpc>
              <a:spcAft>
                <a:spcPts val="300"/>
              </a:spcAft>
            </a:pPr>
            <a:r>
              <a:rPr sz="1250" b="1">
                <a:solidFill>
                  <a:srgbClr val="1C5CAB"/>
                </a:solidFill>
                <a:latin typeface="Calibri" panose="020F0502020204030204"/>
              </a:rPr>
              <a:t>Shared world dynamics</a:t>
            </a:r>
            <a:endParaRPr sz="1250" b="1">
              <a:solidFill>
                <a:srgbClr val="1C5CAB"/>
              </a:solidFill>
              <a:latin typeface="Calibri" panose="020F0502020204030204"/>
            </a:endParaRPr>
          </a:p>
          <a:p>
            <a:pPr algn="just">
              <a:lnSpc>
                <a:spcPct val="106000"/>
              </a:lnSpc>
              <a:spcAft>
                <a:spcPts val="0"/>
              </a:spcAft>
            </a:pPr>
            <a:r>
              <a:rPr sz="1200" b="0">
                <a:solidFill>
                  <a:srgbClr val="52514E"/>
                </a:solidFill>
                <a:latin typeface="Calibri" panose="020F0502020204030204"/>
              </a:rPr>
              <a:t>One core generates the 9-channel stream — 15,000 steps at 10 Hz, calibrated 85/15 normal/anomaly, faults causal (slip + stuck) rather than injected. The W5–6 RL environments import the same core, so offline data and the online env cannot drift.</a:t>
            </a:r>
            <a:endParaRPr sz="1200" b="0">
              <a:solidFill>
                <a:srgbClr val="52514E"/>
              </a:solidFill>
              <a:latin typeface="Calibri" panose="020F050202020403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279392" y="1517904"/>
            <a:ext cx="3630168" cy="1810512"/>
          </a:xfrm>
          <a:prstGeom prst="roundRect">
            <a:avLst>
              <a:gd name="adj" fmla="val 45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t"/>
          <a:lstStyle/>
          <a:p>
            <a:pPr algn="just">
              <a:lnSpc>
                <a:spcPct val="100000"/>
              </a:lnSpc>
              <a:spcAft>
                <a:spcPts val="300"/>
              </a:spcAft>
            </a:pPr>
            <a:r>
              <a:rPr sz="1250" b="1">
                <a:solidFill>
                  <a:srgbClr val="1C5CAB"/>
                </a:solidFill>
                <a:latin typeface="Calibri" panose="020F0502020204030204"/>
              </a:rPr>
              <a:t>Leakage-safe canonical split</a:t>
            </a:r>
            <a:endParaRPr sz="1250" b="1">
              <a:solidFill>
                <a:srgbClr val="1C5CAB"/>
              </a:solidFill>
              <a:latin typeface="Calibri" panose="020F0502020204030204"/>
            </a:endParaRPr>
          </a:p>
          <a:p>
            <a:pPr algn="just">
              <a:lnSpc>
                <a:spcPct val="106000"/>
              </a:lnSpc>
              <a:spcAft>
                <a:spcPts val="0"/>
              </a:spcAft>
            </a:pPr>
            <a:r>
              <a:rPr sz="1200" b="0">
                <a:solidFill>
                  <a:srgbClr val="52514E"/>
                </a:solidFill>
                <a:latin typeface="Calibri" panose="020F0502020204030204"/>
              </a:rPr>
              <a:t>Block segmentation + StratifiedGroupKFold with a 50-step purge kills window leakage at the split level; every fault event sits fully inside one block. All six model families read the same fold file instead of re-deriving a split.</a:t>
            </a:r>
            <a:endParaRPr sz="1200" b="0">
              <a:solidFill>
                <a:srgbClr val="52514E"/>
              </a:solidFill>
              <a:latin typeface="Calibri" panose="020F0502020204030204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8010144" y="1517904"/>
            <a:ext cx="3630168" cy="1810512"/>
          </a:xfrm>
          <a:prstGeom prst="roundRect">
            <a:avLst>
              <a:gd name="adj" fmla="val 45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t"/>
          <a:lstStyle/>
          <a:p>
            <a:pPr algn="just">
              <a:lnSpc>
                <a:spcPct val="100000"/>
              </a:lnSpc>
              <a:spcAft>
                <a:spcPts val="300"/>
              </a:spcAft>
            </a:pPr>
            <a:r>
              <a:rPr sz="1250" b="1">
                <a:solidFill>
                  <a:srgbClr val="1C5CAB"/>
                </a:solidFill>
                <a:latin typeface="Calibri" panose="020F0502020204030204"/>
              </a:rPr>
              <a:t>Two-phase fold protocol</a:t>
            </a:r>
            <a:endParaRPr sz="1250" b="1">
              <a:solidFill>
                <a:srgbClr val="1C5CAB"/>
              </a:solidFill>
              <a:latin typeface="Calibri" panose="020F0502020204030204"/>
            </a:endParaRPr>
          </a:p>
          <a:p>
            <a:pPr algn="just">
              <a:lnSpc>
                <a:spcPct val="106000"/>
              </a:lnSpc>
              <a:spcAft>
                <a:spcPts val="0"/>
              </a:spcAft>
            </a:pPr>
            <a:r>
              <a:rPr sz="1200" b="0">
                <a:solidFill>
                  <a:srgbClr val="52514E"/>
                </a:solidFill>
                <a:latin typeface="Calibri" panose="020F0502020204030204"/>
              </a:rPr>
              <a:t>Design choices are tuned on the canonical fold only; the locked config is retrained across all 7 rotations. Mandatory per model: split sizes, seed, confusion matrix, per-class P/R/F1, timeit latency, gate verdict.</a:t>
            </a:r>
            <a:endParaRPr sz="1200" b="0">
              <a:solidFill>
                <a:srgbClr val="52514E"/>
              </a:solidFill>
              <a:latin typeface="Calibri" panose="020F0502020204030204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48640" y="3529584"/>
            <a:ext cx="3630168" cy="1810512"/>
          </a:xfrm>
          <a:prstGeom prst="roundRect">
            <a:avLst>
              <a:gd name="adj" fmla="val 45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t"/>
          <a:lstStyle/>
          <a:p>
            <a:pPr algn="just">
              <a:lnSpc>
                <a:spcPct val="100000"/>
              </a:lnSpc>
              <a:spcAft>
                <a:spcPts val="300"/>
              </a:spcAft>
            </a:pPr>
            <a:r>
              <a:rPr sz="1250" b="1">
                <a:solidFill>
                  <a:srgbClr val="1C5CAB"/>
                </a:solidFill>
                <a:latin typeface="Calibri" panose="020F0502020204030204"/>
              </a:rPr>
              <a:t>40-feature matrix</a:t>
            </a:r>
            <a:endParaRPr sz="1250" b="1">
              <a:solidFill>
                <a:srgbClr val="1C5CAB"/>
              </a:solidFill>
              <a:latin typeface="Calibri" panose="020F0502020204030204"/>
            </a:endParaRPr>
          </a:p>
          <a:p>
            <a:pPr algn="just">
              <a:lnSpc>
                <a:spcPct val="106000"/>
              </a:lnSpc>
              <a:spcAft>
                <a:spcPts val="0"/>
              </a:spcAft>
            </a:pPr>
            <a:r>
              <a:rPr sz="1200" b="0">
                <a:solidFill>
                  <a:srgbClr val="52514E"/>
                </a:solidFill>
                <a:latin typeface="Calibri" panose="020F0502020204030204"/>
              </a:rPr>
              <a:t>9 raw + 25 FFT (50-step window on the 4 torque channels + LiDAR, built to capture a spectral fault signature) + 6 physical. GPS enters as per-step deltas — absolute position is a memorised map shortcut, the delta is the transferable signal.</a:t>
            </a:r>
            <a:endParaRPr sz="1200" b="0">
              <a:solidFill>
                <a:srgbClr val="52514E"/>
              </a:solidFill>
              <a:latin typeface="Calibri" panose="020F0502020204030204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279392" y="3529584"/>
            <a:ext cx="3630168" cy="1810512"/>
          </a:xfrm>
          <a:prstGeom prst="roundRect">
            <a:avLst>
              <a:gd name="adj" fmla="val 45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t"/>
          <a:lstStyle/>
          <a:p>
            <a:pPr algn="just">
              <a:lnSpc>
                <a:spcPct val="100000"/>
              </a:lnSpc>
              <a:spcAft>
                <a:spcPts val="300"/>
              </a:spcAft>
            </a:pPr>
            <a:r>
              <a:rPr sz="1250" b="1">
                <a:solidFill>
                  <a:srgbClr val="1C5CAB"/>
                </a:solidFill>
                <a:latin typeface="Calibri" panose="020F0502020204030204"/>
              </a:rPr>
              <a:t>The feature lesson that carried Phase B</a:t>
            </a:r>
            <a:endParaRPr sz="1250" b="1">
              <a:solidFill>
                <a:srgbClr val="1C5CAB"/>
              </a:solidFill>
              <a:latin typeface="Calibri" panose="020F0502020204030204"/>
            </a:endParaRPr>
          </a:p>
          <a:p>
            <a:pPr algn="just">
              <a:lnSpc>
                <a:spcPct val="106000"/>
              </a:lnSpc>
              <a:spcAft>
                <a:spcPts val="0"/>
              </a:spcAft>
            </a:pPr>
            <a:r>
              <a:rPr sz="1200" b="0">
                <a:solidFill>
                  <a:srgbClr val="52514E"/>
                </a:solidFill>
                <a:latin typeface="Calibri" panose="020F0502020204030204"/>
              </a:rPr>
              <a:t>Torque shows zero 3σ outliers — terrain already spreads it wide, so a plain outlier rule cannot work. Two cross-channel features close the gap: inter-wheel torque std (slip) and stall ratio (stuck), worth +0.27 F1 on the RF baseline before any neural model.</a:t>
            </a:r>
            <a:endParaRPr sz="1200" b="0">
              <a:solidFill>
                <a:srgbClr val="52514E"/>
              </a:solidFill>
              <a:latin typeface="Calibri" panose="020F0502020204030204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010144" y="3529584"/>
            <a:ext cx="3630168" cy="1810512"/>
          </a:xfrm>
          <a:prstGeom prst="roundRect">
            <a:avLst>
              <a:gd name="adj" fmla="val 45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t"/>
          <a:lstStyle/>
          <a:p>
            <a:pPr algn="just">
              <a:lnSpc>
                <a:spcPct val="100000"/>
              </a:lnSpc>
              <a:spcAft>
                <a:spcPts val="300"/>
              </a:spcAft>
            </a:pPr>
            <a:r>
              <a:rPr sz="1250" b="1">
                <a:solidFill>
                  <a:srgbClr val="1C5CAB"/>
                </a:solidFill>
                <a:latin typeface="Calibri" panose="020F0502020204030204"/>
              </a:rPr>
              <a:t>PCA and selection</a:t>
            </a:r>
            <a:endParaRPr sz="1250" b="1">
              <a:solidFill>
                <a:srgbClr val="1C5CAB"/>
              </a:solidFill>
              <a:latin typeface="Calibri" panose="020F0502020204030204"/>
            </a:endParaRPr>
          </a:p>
          <a:p>
            <a:pPr algn="just">
              <a:lnSpc>
                <a:spcPct val="106000"/>
              </a:lnSpc>
              <a:spcAft>
                <a:spcPts val="0"/>
              </a:spcAft>
            </a:pPr>
            <a:r>
              <a:rPr sz="1200" b="0">
                <a:solidFill>
                  <a:srgbClr val="52514E"/>
                </a:solidFill>
                <a:latin typeface="Calibri" panose="020F0502020204030204"/>
              </a:rPr>
              <a:t>40 scaled features → 19 components at 95.1% variance, fit on train only; PC1 is the torque spectral centroid, PC2 the stall ratio. Selection ranks on F1, not accuracy — with an 85% majority class, accuracy is blind to the minority.</a:t>
            </a:r>
            <a:endParaRPr sz="1200" b="0">
              <a:solidFill>
                <a:srgbClr val="52514E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374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A1A1A"/>
                </a:solidFill>
                <a:latin typeface="Calibri" panose="020F0502020204030204"/>
              </a:rPr>
              <a:t>All six models clear the 100 ms gate ≥12× </a:t>
            </a:r>
            <a:endParaRPr sz="2300" b="1">
              <a:solidFill>
                <a:srgbClr val="1A1A1A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804672"/>
            <a:ext cx="1109167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52514E"/>
                </a:solidFill>
                <a:latin typeface="Calibri" panose="020F0502020204030204"/>
              </a:rPr>
              <a:t>Headline · Aido Rover anomaly detection · 7-fold block-rotation mean ± std on the canonical split · single-sample CPU latency</a:t>
            </a:r>
            <a:endParaRPr sz="1300" b="0">
              <a:solidFill>
                <a:srgbClr val="52514E"/>
              </a:solidFill>
              <a:latin typeface="Calibri" panose="020F050202020403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27432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98781"/>
                </a:solidFill>
                <a:latin typeface="Calibri" panose="020F0502020204030204"/>
              </a:rPr>
              <a:t>InGen Dynamics · ML &amp; NN Analyst Internship — Mid-Point Review (W1–W4)</a:t>
            </a:r>
            <a:endParaRPr sz="900" b="0">
              <a:solidFill>
                <a:srgbClr val="898781"/>
              </a:solidFill>
              <a:latin typeface="Calibri" panose="020F0502020204030204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5897880" cy="2139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868680"/>
                <a:gridCol w="7772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Model</a:t>
                      </a:r>
                      <a:endParaRPr sz="1150" b="1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1C5CA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F1 (7-fold)</a:t>
                      </a:r>
                      <a:endParaRPr sz="1150" b="1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1C5CA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AUC (7-fold)</a:t>
                      </a:r>
                      <a:endParaRPr sz="1150" b="1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1C5CA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ms</a:t>
                      </a:r>
                      <a:endParaRPr sz="1150" b="1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1C5CA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≤100 ms</a:t>
                      </a:r>
                      <a:endParaRPr sz="1150" b="1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1C5CAB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RandomForest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0.749 ± 0.048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0.960 ± 0.009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7.86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06300"/>
                          </a:solidFill>
                          <a:latin typeface="Calibri" panose="020F0502020204030204"/>
                        </a:rPr>
                        <a:t>PASS</a:t>
                      </a:r>
                      <a:endParaRPr sz="1150" b="1">
                        <a:solidFill>
                          <a:srgbClr val="006300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MLP</a:t>
                      </a:r>
                      <a:endParaRPr sz="1150" b="1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CE9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0.794 ± 0.047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CE9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0.979 ± 0.011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CE9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0.14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CE9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06300"/>
                          </a:solidFill>
                          <a:latin typeface="Calibri" panose="020F0502020204030204"/>
                        </a:rPr>
                        <a:t>PASS</a:t>
                      </a:r>
                      <a:endParaRPr sz="1150" b="1">
                        <a:solidFill>
                          <a:srgbClr val="006300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CE9D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1D-CNN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0.731 ± 0.115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0.965 ± 0.022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0.15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06300"/>
                          </a:solidFill>
                          <a:latin typeface="Calibri" panose="020F0502020204030204"/>
                        </a:rPr>
                        <a:t>PASS</a:t>
                      </a:r>
                      <a:endParaRPr sz="1150" b="1">
                        <a:solidFill>
                          <a:srgbClr val="006300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LSTM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0.704 ± 0.159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0.969 ± 0.014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0.19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06300"/>
                          </a:solidFill>
                          <a:latin typeface="Calibri" panose="020F0502020204030204"/>
                        </a:rPr>
                        <a:t>PASS</a:t>
                      </a:r>
                      <a:endParaRPr sz="1150" b="1">
                        <a:solidFill>
                          <a:srgbClr val="006300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7F8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GRU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0.747 ± 0.082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0.975 ± 0.006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0.67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06300"/>
                          </a:solidFill>
                          <a:latin typeface="Calibri" panose="020F0502020204030204"/>
                        </a:rPr>
                        <a:t>PASS</a:t>
                      </a:r>
                      <a:endParaRPr sz="1150" b="1">
                        <a:solidFill>
                          <a:srgbClr val="006300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Transformer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0.829 ± 0.069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0.982 ± 0.005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0.52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06300"/>
                          </a:solidFill>
                          <a:latin typeface="Calibri" panose="020F0502020204030204"/>
                        </a:rPr>
                        <a:t>PASS</a:t>
                      </a:r>
                      <a:endParaRPr sz="1150" b="1">
                        <a:solidFill>
                          <a:srgbClr val="006300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639312"/>
            <a:ext cx="56235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898781"/>
                </a:solidFill>
                <a:latin typeface="Calibri" panose="020F0502020204030204"/>
              </a:rPr>
              <a:t>All six deployment-feasible; </a:t>
            </a:r>
            <a:r>
              <a:rPr sz="1100" b="0">
                <a:solidFill>
                  <a:srgbClr val="52514E"/>
                </a:solidFill>
                <a:latin typeface="Calibri" panose="020F0502020204030204"/>
              </a:rPr>
              <a:t>highlighted row</a:t>
            </a:r>
            <a:r>
              <a:rPr sz="1100" b="0">
                <a:solidFill>
                  <a:srgbClr val="898781"/>
                </a:solidFill>
                <a:latin typeface="Calibri" panose="020F0502020204030204"/>
              </a:rPr>
              <a:t> = recommended default. Sub-ms readings are single-session means — order of magnitude only.</a:t>
            </a:r>
            <a:endParaRPr sz="1100" b="0">
              <a:solidFill>
                <a:srgbClr val="898781"/>
              </a:solidFill>
              <a:latin typeface="Calibri" panose="020F0502020204030204"/>
            </a:endParaRPr>
          </a:p>
        </p:txBody>
      </p:sp>
      <p:pic>
        <p:nvPicPr>
          <p:cNvPr id="9" name="Picture 8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325880"/>
            <a:ext cx="5486400" cy="416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041648"/>
            <a:ext cx="5623560" cy="13284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C5CAB"/>
                </a:solidFill>
                <a:latin typeface="Calibri" panose="020F0502020204030204"/>
              </a:rPr>
              <a:t>·  </a:t>
            </a:r>
            <a:r>
              <a:rPr sz="1200" b="1">
                <a:solidFill>
                  <a:srgbClr val="1A1A1A"/>
                </a:solidFill>
                <a:latin typeface="Calibri" panose="020F0502020204030204"/>
              </a:rPr>
              <a:t>MLP is the recommended default</a:t>
            </a:r>
            <a:r>
              <a:rPr sz="1200" b="0">
                <a:solidFill>
                  <a:srgbClr val="1A1A1A"/>
                </a:solidFill>
                <a:latin typeface="Calibri" panose="020F0502020204030204"/>
              </a:rPr>
              <a:t>: the Transformer's F1 edge is within noise by a paired t-test (p = 0.34) and vanishes at matched parameters (Transformer-S 0.760, itself inside the same near-tie). On the axes that decide selection the MLP is not beaten — equal F1, the better worst fold (0.736 vs 0.690), 4.5× fewer parameters.</a:t>
            </a:r>
            <a:endParaRPr sz="1200" b="0">
              <a:solidFill>
                <a:srgbClr val="1A1A1A"/>
              </a:solidFill>
              <a:latin typeface="Calibri" panose="020F0502020204030204"/>
            </a:endParaRPr>
          </a:p>
          <a:p>
            <a:pPr algn="just"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C5CAB"/>
                </a:solidFill>
                <a:latin typeface="Calibri" panose="020F0502020204030204"/>
              </a:rPr>
              <a:t>·  </a:t>
            </a:r>
            <a:r>
              <a:rPr sz="1200" b="1">
                <a:solidFill>
                  <a:srgbClr val="1A1A1A"/>
                </a:solidFill>
                <a:latin typeface="Calibri" panose="020F0502020204030204"/>
              </a:rPr>
              <a:t>Latency never binds at 10 Hz</a:t>
            </a:r>
            <a:r>
              <a:rPr sz="1200" b="0">
                <a:solidFill>
                  <a:srgbClr val="1A1A1A"/>
                </a:solidFill>
                <a:latin typeface="Calibri" panose="020F0502020204030204"/>
              </a:rPr>
              <a:t> — the slowest model sits &gt;12× under the gate; model choice is a quality/stability decision, not a speed one.</a:t>
            </a:r>
            <a:endParaRPr sz="1200" b="0">
              <a:solidFill>
                <a:srgbClr val="1A1A1A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374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A1A1A"/>
                </a:solidFill>
                <a:latin typeface="Calibri" panose="020F0502020204030204"/>
              </a:rPr>
              <a:t>Attention localises the fault,</a:t>
            </a:r>
            <a:r>
              <a:rPr lang="en-US" sz="2300" b="1">
                <a:solidFill>
                  <a:srgbClr val="1A1A1A"/>
                </a:solidFill>
                <a:latin typeface="Calibri" panose="020F0502020204030204"/>
              </a:rPr>
              <a:t> </a:t>
            </a:r>
            <a:r>
              <a:rPr sz="2300" b="1">
                <a:solidFill>
                  <a:srgbClr val="1A1A1A"/>
                </a:solidFill>
                <a:latin typeface="Calibri" panose="020F0502020204030204"/>
              </a:rPr>
              <a:t>LSTM smears </a:t>
            </a:r>
            <a:r>
              <a:rPr lang="en-US" sz="2300" b="1">
                <a:solidFill>
                  <a:srgbClr val="1A1A1A"/>
                </a:solidFill>
                <a:latin typeface="Calibri" panose="020F0502020204030204"/>
              </a:rPr>
              <a:t>froward</a:t>
            </a:r>
            <a:r>
              <a:rPr sz="2300" b="1">
                <a:solidFill>
                  <a:srgbClr val="1A1A1A"/>
                </a:solidFill>
                <a:latin typeface="Calibri" panose="020F0502020204030204"/>
              </a:rPr>
              <a:t>, the feature steps at onset</a:t>
            </a:r>
            <a:endParaRPr sz="2300" b="1">
              <a:solidFill>
                <a:srgbClr val="1A1A1A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804672"/>
            <a:ext cx="1109167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52514E"/>
                </a:solidFill>
                <a:latin typeface="Calibri" panose="020F0502020204030204"/>
              </a:rPr>
              <a:t>Week 3 · one anomalous test window (slip fault, last 8 of 50 steps, shaded) · three views on one shared time axis</a:t>
            </a:r>
            <a:endParaRPr sz="1300" b="0">
              <a:solidFill>
                <a:srgbClr val="52514E"/>
              </a:solidFill>
              <a:latin typeface="Calibri" panose="020F050202020403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27432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98781"/>
                </a:solidFill>
                <a:latin typeface="Calibri" panose="020F0502020204030204"/>
              </a:rPr>
              <a:t>InGen Dynamics · ML &amp; NN Analyst Internship — Mid-Point Review (W1–W4)</a:t>
            </a:r>
            <a:endParaRPr sz="900" b="0">
              <a:solidFill>
                <a:srgbClr val="898781"/>
              </a:solidFill>
              <a:latin typeface="Calibri" panose="020F0502020204030204"/>
            </a:endParaRPr>
          </a:p>
        </p:txBody>
      </p:sp>
      <p:pic>
        <p:nvPicPr>
          <p:cNvPr id="7" name="Picture 6" descr="attention_vs_hidden_vs_crosschanne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53312"/>
            <a:ext cx="11091672" cy="295777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4517136"/>
            <a:ext cx="3630168" cy="1755648"/>
          </a:xfrm>
          <a:prstGeom prst="roundRect">
            <a:avLst>
              <a:gd name="adj" fmla="val 45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t"/>
          <a:lstStyle/>
          <a:p>
            <a:pPr algn="just">
              <a:lnSpc>
                <a:spcPct val="100000"/>
              </a:lnSpc>
              <a:spcAft>
                <a:spcPts val="300"/>
              </a:spcAft>
            </a:pPr>
            <a:r>
              <a:rPr sz="1250" b="1">
                <a:solidFill>
                  <a:srgbClr val="1C5CAB"/>
                </a:solidFill>
                <a:latin typeface="Calibri" panose="020F0502020204030204"/>
              </a:rPr>
              <a:t>Attention — time</a:t>
            </a:r>
            <a:r>
              <a:rPr lang="en-US" sz="1250" b="1">
                <a:solidFill>
                  <a:srgbClr val="1C5CAB"/>
                </a:solidFill>
                <a:latin typeface="Calibri" panose="020F0502020204030204"/>
              </a:rPr>
              <a:t> </a:t>
            </a:r>
            <a:r>
              <a:rPr sz="1250" b="1">
                <a:solidFill>
                  <a:srgbClr val="1C5CAB"/>
                </a:solidFill>
                <a:latin typeface="Calibri" panose="020F0502020204030204"/>
              </a:rPr>
              <a:t>domain localisation</a:t>
            </a:r>
            <a:endParaRPr sz="1250" b="1">
              <a:solidFill>
                <a:srgbClr val="1C5CAB"/>
              </a:solidFill>
              <a:latin typeface="Calibri" panose="020F0502020204030204"/>
            </a:endParaRPr>
          </a:p>
          <a:p>
            <a:pPr algn="just">
              <a:lnSpc>
                <a:spcPct val="106000"/>
              </a:lnSpc>
              <a:spcAft>
                <a:spcPts val="0"/>
              </a:spcAft>
            </a:pPr>
            <a:r>
              <a:rPr sz="1200" b="0">
                <a:solidFill>
                  <a:srgbClr val="52514E"/>
                </a:solidFill>
                <a:latin typeface="Calibri" panose="020F0502020204030204"/>
              </a:rPr>
              <a:t>Near-zero for 4.2 s, then rising an order of magnitude inside the true fault span. Across all 267 eligible anomalous test windows: median fault/normal selectivity 5.3×, above 1 in 98%. All four final-layer heads key on the same span.</a:t>
            </a:r>
            <a:endParaRPr sz="1200" b="0">
              <a:solidFill>
                <a:srgbClr val="52514E"/>
              </a:solidFill>
              <a:latin typeface="Calibri" panose="020F0502020204030204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279392" y="4517136"/>
            <a:ext cx="3630168" cy="1755648"/>
          </a:xfrm>
          <a:prstGeom prst="roundRect">
            <a:avLst>
              <a:gd name="adj" fmla="val 45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t"/>
          <a:lstStyle/>
          <a:p>
            <a:pPr algn="just">
              <a:lnSpc>
                <a:spcPct val="100000"/>
              </a:lnSpc>
              <a:spcAft>
                <a:spcPts val="300"/>
              </a:spcAft>
            </a:pPr>
            <a:r>
              <a:rPr sz="1250" b="1">
                <a:solidFill>
                  <a:srgbClr val="1C5CAB"/>
                </a:solidFill>
                <a:latin typeface="Calibri" panose="020F0502020204030204"/>
              </a:rPr>
              <a:t>LSTM hidden state — a regime shift</a:t>
            </a:r>
            <a:endParaRPr sz="1250" b="1">
              <a:solidFill>
                <a:srgbClr val="1C5CAB"/>
              </a:solidFill>
              <a:latin typeface="Calibri" panose="020F0502020204030204"/>
            </a:endParaRPr>
          </a:p>
          <a:p>
            <a:pPr algn="just">
              <a:lnSpc>
                <a:spcPct val="106000"/>
              </a:lnSpc>
              <a:spcAft>
                <a:spcPts val="0"/>
              </a:spcAft>
            </a:pPr>
            <a:r>
              <a:rPr sz="1200" b="0">
                <a:solidFill>
                  <a:srgbClr val="52514E"/>
                </a:solidFill>
                <a:latin typeface="Calibri" panose="020F0502020204030204"/>
              </a:rPr>
              <a:t>The norm saturates in normal operation and shifts regime once fault steps arrive, but the per-step change is barely more concentrated on fault steps (median ratio 1.15, &gt;1 in 57%). A causal state smears evidence forward — why the final-state readout is fragile mid-window.</a:t>
            </a:r>
            <a:endParaRPr sz="1200" b="0">
              <a:solidFill>
                <a:srgbClr val="52514E"/>
              </a:solidFill>
              <a:latin typeface="Calibri" panose="020F0502020204030204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010144" y="4517136"/>
            <a:ext cx="3630168" cy="1755648"/>
          </a:xfrm>
          <a:prstGeom prst="roundRect">
            <a:avLst>
              <a:gd name="adj" fmla="val 45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t"/>
          <a:lstStyle/>
          <a:p>
            <a:pPr algn="just">
              <a:lnSpc>
                <a:spcPct val="100000"/>
              </a:lnSpc>
              <a:spcAft>
                <a:spcPts val="300"/>
              </a:spcAft>
            </a:pPr>
            <a:r>
              <a:rPr lang="en-US" sz="1250" b="1">
                <a:solidFill>
                  <a:srgbClr val="1C5CAB"/>
                </a:solidFill>
                <a:latin typeface="Calibri" panose="020F0502020204030204"/>
              </a:rPr>
              <a:t>F</a:t>
            </a:r>
            <a:r>
              <a:rPr sz="1250" b="1">
                <a:solidFill>
                  <a:srgbClr val="1C5CAB"/>
                </a:solidFill>
                <a:latin typeface="Calibri" panose="020F0502020204030204"/>
              </a:rPr>
              <a:t>eature — the reference for where</a:t>
            </a:r>
            <a:endParaRPr sz="1250" b="1">
              <a:solidFill>
                <a:srgbClr val="1C5CAB"/>
              </a:solidFill>
              <a:latin typeface="Calibri" panose="020F0502020204030204"/>
            </a:endParaRPr>
          </a:p>
          <a:p>
            <a:pPr algn="just">
              <a:lnSpc>
                <a:spcPct val="106000"/>
              </a:lnSpc>
              <a:spcAft>
                <a:spcPts val="0"/>
              </a:spcAft>
            </a:pPr>
            <a:r>
              <a:rPr sz="1200" b="0">
                <a:solidFill>
                  <a:srgbClr val="52514E"/>
                </a:solidFill>
                <a:latin typeface="Calibri" panose="020F0502020204030204"/>
              </a:rPr>
              <a:t>inter_wheel_std steps 0.27 → 1.40 Nm (5.1×) at exactly the onset step, and it is one of the 11 input channels. Attention mass concentrates on the same steps — temporal co-location with the discriminative feature, not proof the model reads that channel.</a:t>
            </a:r>
            <a:endParaRPr sz="1200" b="0">
              <a:solidFill>
                <a:srgbClr val="52514E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A1A1A"/>
                </a:solidFill>
                <a:latin typeface="Calibri" panose="020F0502020204030204"/>
              </a:rPr>
              <a:t>Latency scales with window, but stays orders of magnitude under the gate</a:t>
            </a:r>
            <a:endParaRPr sz="2300" b="1">
              <a:solidFill>
                <a:srgbClr val="1A1A1A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804672"/>
            <a:ext cx="1109167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52514E"/>
                </a:solidFill>
                <a:latin typeface="Calibri" panose="020F0502020204030204"/>
              </a:rPr>
              <a:t>Week 3 · single-sample CPU latency at w = 10 / 20 / 50 steps · 100 ms Aido Rover streaming gate</a:t>
            </a:r>
            <a:endParaRPr sz="1300" b="0">
              <a:solidFill>
                <a:srgbClr val="52514E"/>
              </a:solidFill>
              <a:latin typeface="Calibri" panose="020F050202020403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27432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98781"/>
                </a:solidFill>
                <a:latin typeface="Calibri" panose="020F0502020204030204"/>
              </a:rPr>
              <a:t>InGen Dynamics · ML &amp; NN Analyst Internship — Mid-Point Review (W1–W4)</a:t>
            </a:r>
            <a:endParaRPr sz="900" b="0">
              <a:solidFill>
                <a:srgbClr val="898781"/>
              </a:solidFill>
              <a:latin typeface="Calibri" panose="020F0502020204030204"/>
            </a:endParaRPr>
          </a:p>
        </p:txBody>
      </p:sp>
      <p:pic>
        <p:nvPicPr>
          <p:cNvPr id="7" name="Picture 6" descr="latency_vs_window_de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44752"/>
            <a:ext cx="5212080" cy="4553712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897880" y="1481328"/>
          <a:ext cx="5605272" cy="1234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72768"/>
                <a:gridCol w="1344168"/>
                <a:gridCol w="1344168"/>
                <a:gridCol w="1344168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Model</a:t>
                      </a:r>
                      <a:endParaRPr sz="1150" b="1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1C5CA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w = 10</a:t>
                      </a:r>
                      <a:endParaRPr sz="1150" b="1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1C5CA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w = 20</a:t>
                      </a:r>
                      <a:endParaRPr sz="1150" b="1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1C5CA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w = 50</a:t>
                      </a:r>
                      <a:endParaRPr sz="1150" b="1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1C5CAB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LSTM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0.14 ms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0.16 ms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0.21 ms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GRU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0.17 ms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0.29 ms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0.64 ms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7F8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Transformer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0.61 ms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3.04 ms *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0.72 ms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897880" y="2770632"/>
            <a:ext cx="560527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898781"/>
                </a:solidFill>
                <a:latin typeface="Calibri" panose="020F0502020204030204"/>
              </a:rPr>
              <a:t>* re-measured at 0.26 ms in a repeat run — single-session means, order of magnitude only.</a:t>
            </a:r>
            <a:endParaRPr sz="1100" b="0">
              <a:solidFill>
                <a:srgbClr val="898781"/>
              </a:solidFill>
              <a:latin typeface="Calibri" panose="020F0502020204030204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897880" y="3127248"/>
            <a:ext cx="5605272" cy="1572768"/>
          </a:xfrm>
          <a:prstGeom prst="roundRect">
            <a:avLst>
              <a:gd name="adj" fmla="val 45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t"/>
          <a:lstStyle/>
          <a:p>
            <a:pPr algn="just">
              <a:lnSpc>
                <a:spcPct val="100000"/>
              </a:lnSpc>
              <a:spcAft>
                <a:spcPts val="300"/>
              </a:spcAft>
            </a:pPr>
            <a:r>
              <a:rPr sz="1250" b="1">
                <a:solidFill>
                  <a:srgbClr val="1C5CAB"/>
                </a:solidFill>
                <a:latin typeface="Calibri" panose="020F0502020204030204"/>
              </a:rPr>
              <a:t>Scaling is real, but overhead-dominated at these windows</a:t>
            </a:r>
            <a:endParaRPr sz="1250" b="1">
              <a:solidFill>
                <a:srgbClr val="1C5CAB"/>
              </a:solidFill>
              <a:latin typeface="Calibri" panose="020F0502020204030204"/>
            </a:endParaRPr>
          </a:p>
          <a:p>
            <a:pPr algn="just">
              <a:lnSpc>
                <a:spcPct val="106000"/>
              </a:lnSpc>
              <a:spcAft>
                <a:spcPts val="0"/>
              </a:spcAft>
            </a:pPr>
            <a:r>
              <a:rPr sz="1200" b="0">
                <a:solidFill>
                  <a:srgbClr val="52514E"/>
                </a:solidFill>
                <a:latin typeface="Calibri" panose="020F0502020204030204"/>
              </a:rPr>
              <a:t>RNNs are O(w), attention O(w²) — but neither surfaces at w ≤ 50: a 5× window costs the Transformer only 1.3×. These readings are fixed per-inference overhead, not scaling. The crossover to 100 ms can't be pinned from three noisy points, and needn't be — the operating point sits 140–480× under the gate.</a:t>
            </a:r>
            <a:endParaRPr sz="1200" b="0">
              <a:solidFill>
                <a:srgbClr val="52514E"/>
              </a:solidFill>
              <a:latin typeface="Calibri" panose="020F0502020204030204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897880" y="4809744"/>
            <a:ext cx="5605272" cy="1463040"/>
          </a:xfrm>
          <a:prstGeom prst="roundRect">
            <a:avLst>
              <a:gd name="adj" fmla="val 45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t"/>
          <a:lstStyle/>
          <a:p>
            <a:pPr algn="just">
              <a:lnSpc>
                <a:spcPct val="100000"/>
              </a:lnSpc>
              <a:spcAft>
                <a:spcPts val="300"/>
              </a:spcAft>
            </a:pPr>
            <a:r>
              <a:rPr lang="en-US" sz="1250" b="1">
                <a:solidFill>
                  <a:srgbClr val="1C5CAB"/>
                </a:solidFill>
                <a:latin typeface="Calibri" panose="020F0502020204030204"/>
              </a:rPr>
              <a:t>N</a:t>
            </a:r>
            <a:r>
              <a:rPr sz="1250" b="1">
                <a:solidFill>
                  <a:srgbClr val="1C5CAB"/>
                </a:solidFill>
                <a:latin typeface="Calibri" panose="020F0502020204030204"/>
              </a:rPr>
              <a:t>o latency–window tradeoff to make here</a:t>
            </a:r>
            <a:endParaRPr sz="1250" b="1">
              <a:solidFill>
                <a:srgbClr val="1C5CAB"/>
              </a:solidFill>
              <a:latin typeface="Calibri" panose="020F0502020204030204"/>
            </a:endParaRPr>
          </a:p>
          <a:p>
            <a:pPr algn="just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52514E"/>
                </a:solidFill>
                <a:latin typeface="Calibri" panose="020F0502020204030204"/>
              </a:rPr>
              <a:t>w = 50 (5 s) follows the 3.1 s mean fault duration, not the compute budget. Detection does fall off past 25 in-window fault steps, but that band is dominated by stuck-type runs — a fault-type composition effect, not evidence against longer context, which stays on the Phase-D candidate list. The O(w²) concern is real in general; at this platform's sampling rate and fault scale it never activates.</a:t>
            </a:r>
            <a:endParaRPr sz="1200" b="0">
              <a:solidFill>
                <a:srgbClr val="52514E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374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A1A1A"/>
                </a:solidFill>
                <a:latin typeface="Calibri" panose="020F0502020204030204"/>
              </a:rPr>
              <a:t>Trajectory error — LSTM best far, Linear best near</a:t>
            </a:r>
            <a:endParaRPr sz="2300" b="1">
              <a:solidFill>
                <a:srgbClr val="1A1A1A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804672"/>
            <a:ext cx="1109167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52514E"/>
                </a:solidFill>
                <a:latin typeface="Calibri" panose="020F0502020204030204"/>
              </a:rPr>
              <a:t>Aido Humanoid · 10 steps of state → next 5 waypoints, 0.1 s apart · 5,000 synthetic episodes · 5 seeds · 50 ms planning gate</a:t>
            </a:r>
            <a:endParaRPr sz="1300" b="0">
              <a:solidFill>
                <a:srgbClr val="52514E"/>
              </a:solidFill>
              <a:latin typeface="Calibri" panose="020F050202020403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27432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98781"/>
                </a:solidFill>
                <a:latin typeface="Calibri" panose="020F0502020204030204"/>
              </a:rPr>
              <a:t>InGen Dynamics · ML &amp; NN Analyst Internship — Mid-Point Review (W1–W4)</a:t>
            </a:r>
            <a:endParaRPr sz="900" b="0">
              <a:solidFill>
                <a:srgbClr val="898781"/>
              </a:solidFill>
              <a:latin typeface="Calibri" panose="020F0502020204030204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5623560" cy="18379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81328"/>
                <a:gridCol w="731520"/>
                <a:gridCol w="731520"/>
                <a:gridCol w="731520"/>
                <a:gridCol w="1124712"/>
                <a:gridCol w="82296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Model</a:t>
                      </a:r>
                      <a:endParaRPr sz="1150" b="1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1C5CA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h1</a:t>
                      </a:r>
                      <a:endParaRPr sz="1150" b="1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1C5CA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h3</a:t>
                      </a:r>
                      <a:endParaRPr sz="1150" b="1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1C5CA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h5</a:t>
                      </a:r>
                      <a:endParaRPr sz="1150" b="1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1C5CA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Mean (cm)</a:t>
                      </a:r>
                      <a:endParaRPr sz="1150" b="1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1C5CA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ms</a:t>
                      </a:r>
                      <a:endParaRPr sz="1150" b="1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1C5CAB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CV extrapolation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1.84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2.47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4.28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2.77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0.003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Linear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0.73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1.37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2.56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1.50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0.09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7F8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MLP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1.12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1.50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2.43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1.63 ± 0.06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0.03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LSTM</a:t>
                      </a:r>
                      <a:endParaRPr sz="1150" b="1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CE9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0.95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CE9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1.32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CE9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2.18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CE9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1.44 ± 0.04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CE9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0.34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CE9D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Transformer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1.17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1.47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2.32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1.60 ± 0.15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Calibri" panose="020F0502020204030204"/>
                        </a:rPr>
                        <a:t>0.51</a:t>
                      </a:r>
                      <a:endParaRPr sz="1150" b="0">
                        <a:solidFill>
                          <a:srgbClr val="1A1A1A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337560"/>
            <a:ext cx="56235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898781"/>
                </a:solidFill>
                <a:latin typeface="Calibri" panose="020F0502020204030204"/>
              </a:rPr>
              <a:t>Mean Euclidean error (cm), 5-seed mean ± std; CV / Linear deterministic. </a:t>
            </a:r>
            <a:r>
              <a:rPr sz="1100" b="0">
                <a:solidFill>
                  <a:srgbClr val="52514E"/>
                </a:solidFill>
                <a:latin typeface="Calibri" panose="020F0502020204030204"/>
              </a:rPr>
              <a:t>All five PASS ≤50 ms.</a:t>
            </a:r>
            <a:endParaRPr sz="1100" b="0">
              <a:solidFill>
                <a:srgbClr val="52514E"/>
              </a:solidFill>
              <a:latin typeface="Calibri" panose="020F0502020204030204"/>
            </a:endParaRPr>
          </a:p>
        </p:txBody>
      </p:sp>
      <p:pic>
        <p:nvPicPr>
          <p:cNvPr id="9" name="Picture 8" descr="image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298448"/>
            <a:ext cx="5394960" cy="416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639312"/>
            <a:ext cx="5715000" cy="2656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A1A1A"/>
                </a:solidFill>
                <a:latin typeface="Calibri" panose="020F0502020204030204"/>
              </a:rPr>
              <a:t>Error grows superlinearly with the horizon</a:t>
            </a:r>
            <a:r>
              <a:rPr lang="en-US" sz="1200" b="1">
                <a:solidFill>
                  <a:srgbClr val="1A1A1A"/>
                </a:solidFill>
                <a:latin typeface="Calibri" panose="020F0502020204030204"/>
              </a:rPr>
              <a:t>: </a:t>
            </a:r>
            <a:r>
              <a:rPr lang="en-US" sz="1200" b="0">
                <a:solidFill>
                  <a:srgbClr val="1A1A1A"/>
                </a:solidFill>
                <a:latin typeface="Calibri" panose="020F0502020204030204"/>
              </a:rPr>
              <a:t>F</a:t>
            </a:r>
            <a:r>
              <a:rPr sz="1200" b="0">
                <a:solidFill>
                  <a:srgbClr val="1A1A1A"/>
                </a:solidFill>
                <a:latin typeface="Calibri" panose="020F0502020204030204"/>
              </a:rPr>
              <a:t>or every model</a:t>
            </a:r>
            <a:r>
              <a:rPr lang="en-US" sz="1200" b="0">
                <a:solidFill>
                  <a:srgbClr val="1A1A1A"/>
                </a:solidFill>
                <a:latin typeface="Calibri" panose="020F0502020204030204"/>
              </a:rPr>
              <a:t>, n</a:t>
            </a:r>
            <a:r>
              <a:rPr sz="1200" b="0">
                <a:solidFill>
                  <a:srgbClr val="1A1A1A"/>
                </a:solidFill>
                <a:latin typeface="Calibri" panose="020F0502020204030204"/>
              </a:rPr>
              <a:t>ear the horizon it is dominated by gait sway and sensor noise; far out, by unanticipated velocity change, which compounds in time — the mechanism that makes long planning horizons expensive for any predictive planner.</a:t>
            </a:r>
            <a:endParaRPr sz="1200" b="0">
              <a:solidFill>
                <a:srgbClr val="1A1A1A"/>
              </a:solidFill>
              <a:latin typeface="Calibri" panose="020F0502020204030204"/>
            </a:endParaRPr>
          </a:p>
          <a:p>
            <a:pPr algn="just"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A1A1A"/>
                </a:solidFill>
                <a:latin typeface="Calibri" panose="020F0502020204030204"/>
              </a:rPr>
              <a:t>The crossover locates the nonlinear part</a:t>
            </a:r>
            <a:r>
              <a:rPr sz="1200" b="0">
                <a:solidFill>
                  <a:srgbClr val="1A1A1A"/>
                </a:solidFill>
                <a:latin typeface="Calibri" panose="020F0502020204030204"/>
              </a:rPr>
              <a:t>: Linear wins the near waypoints — closed-form least squares is an optimal filter for sway around a quadratic path — and the ordering inverts at the far ones. Almost all the nonlinear gain sits in the obstacle-avoidance episodes, on a single seed; a smaller gap remains on clean ones.</a:t>
            </a:r>
            <a:endParaRPr sz="1200" b="0">
              <a:solidFill>
                <a:srgbClr val="1A1A1A"/>
              </a:solidFill>
              <a:latin typeface="Calibri" panose="020F0502020204030204"/>
            </a:endParaRPr>
          </a:p>
          <a:p>
            <a:pPr algn="just"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A1A1A"/>
                </a:solidFill>
                <a:latin typeface="Calibri" panose="020F0502020204030204"/>
              </a:rPr>
              <a:t>The Transformer does not justify its cost here</a:t>
            </a:r>
            <a:r>
              <a:rPr sz="1200" b="0">
                <a:solidFill>
                  <a:srgbClr val="1A1A1A"/>
                </a:solidFill>
                <a:latin typeface="Calibri" panose="020F0502020204030204"/>
              </a:rPr>
              <a:t>:</a:t>
            </a:r>
            <a:r>
              <a:rPr lang="en-US" sz="1200" b="0">
                <a:solidFill>
                  <a:srgbClr val="1A1A1A"/>
                </a:solidFill>
                <a:latin typeface="Calibri" panose="020F0502020204030204"/>
              </a:rPr>
              <a:t> </a:t>
            </a:r>
            <a:r>
              <a:rPr sz="1200" b="0">
                <a:solidFill>
                  <a:srgbClr val="1A1A1A"/>
                </a:solidFill>
                <a:latin typeface="Calibri" panose="020F0502020204030204"/>
              </a:rPr>
              <a:t>slowest, less accurate than the LSTM, and the most seed-sensitive of the three. A param-matched control halves that variance — a data-scale limit, not a tuning miss. The same shrink hurt accuracy in W03, where sequences were longer: a consistent pattern across two tasks, not a proven mechanism.</a:t>
            </a:r>
            <a:endParaRPr sz="1200" b="0">
              <a:solidFill>
                <a:srgbClr val="1A1A1A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A1A1A"/>
                </a:solidFill>
                <a:latin typeface="Calibri" panose="020F0502020204030204"/>
              </a:rPr>
              <a:t>Near waypoints read the present, far waypoints read the trend</a:t>
            </a:r>
            <a:endParaRPr sz="2300" b="1">
              <a:solidFill>
                <a:srgbClr val="1A1A1A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804672"/>
            <a:ext cx="1109167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52514E"/>
                </a:solidFill>
                <a:latin typeface="Calibri" panose="020F0502020204030204"/>
              </a:rPr>
              <a:t>Week 4 · Transformer horizon-query decoder · attention over the 10-step history, resolved per output waypoint</a:t>
            </a:r>
            <a:endParaRPr sz="1300" b="0">
              <a:solidFill>
                <a:srgbClr val="52514E"/>
              </a:solidFill>
              <a:latin typeface="Calibri" panose="020F050202020403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27432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98781"/>
                </a:solidFill>
                <a:latin typeface="Calibri" panose="020F0502020204030204"/>
              </a:rPr>
              <a:t>InGen Dynamics · ML &amp; NN Analyst Internship — Mid-Point Review (W1–W4)</a:t>
            </a:r>
            <a:endParaRPr sz="900" b="0">
              <a:solidFill>
                <a:srgbClr val="898781"/>
              </a:solidFill>
              <a:latin typeface="Calibri" panose="020F0502020204030204"/>
            </a:endParaRPr>
          </a:p>
        </p:txBody>
      </p:sp>
      <p:pic>
        <p:nvPicPr>
          <p:cNvPr id="7" name="Picture 6" descr="attention_over_horizo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53312"/>
            <a:ext cx="11091672" cy="295777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4517136"/>
            <a:ext cx="3630168" cy="1755648"/>
          </a:xfrm>
          <a:prstGeom prst="roundRect">
            <a:avLst>
              <a:gd name="adj" fmla="val 45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t"/>
          <a:lstStyle/>
          <a:p>
            <a:pPr algn="just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1C5CAB"/>
                </a:solidFill>
                <a:latin typeface="Calibri" panose="020F0502020204030204"/>
              </a:rPr>
              <a:t>The centre of mass slides monotonically earlier</a:t>
            </a:r>
            <a:endParaRPr sz="1200" b="1">
              <a:solidFill>
                <a:srgbClr val="1C5CAB"/>
              </a:solidFill>
              <a:latin typeface="Calibri" panose="020F0502020204030204"/>
            </a:endParaRPr>
          </a:p>
          <a:p>
            <a:pPr algn="just">
              <a:lnSpc>
                <a:spcPct val="106000"/>
              </a:lnSpc>
              <a:spcAft>
                <a:spcPts val="0"/>
              </a:spcAft>
            </a:pPr>
            <a:r>
              <a:rPr sz="1150" b="0">
                <a:solidFill>
                  <a:srgbClr val="52514E"/>
                </a:solidFill>
                <a:latin typeface="Calibri" panose="020F0502020204030204"/>
              </a:rPr>
              <a:t>Averaged over the test set, attention mass moves steadily back through the history as the horizon grows — centre of mass 6.7 → 3.1. One decoder, five different read patterns from the same input, none of them specified.</a:t>
            </a:r>
            <a:endParaRPr sz="1150" b="0">
              <a:solidFill>
                <a:srgbClr val="52514E"/>
              </a:solidFill>
              <a:latin typeface="Calibri" panose="020F0502020204030204"/>
            </a:endParaRPr>
          </a:p>
          <a:p>
            <a:pPr algn="just">
              <a:lnSpc>
                <a:spcPct val="106000"/>
              </a:lnSpc>
              <a:spcAft>
                <a:spcPts val="0"/>
              </a:spcAft>
            </a:pPr>
            <a:endParaRPr sz="1150" b="0">
              <a:solidFill>
                <a:srgbClr val="52514E"/>
              </a:solidFill>
              <a:latin typeface="Calibri" panose="020F0502020204030204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279392" y="4517136"/>
            <a:ext cx="3630168" cy="1755648"/>
          </a:xfrm>
          <a:prstGeom prst="roundRect">
            <a:avLst>
              <a:gd name="adj" fmla="val 45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t"/>
          <a:lstStyle/>
          <a:p>
            <a:pPr algn="just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1C5CAB"/>
                </a:solidFill>
                <a:latin typeface="Calibri" panose="020F0502020204030204"/>
              </a:rPr>
              <a:t>h1 tilts to the latest state, h5 to the earliest</a:t>
            </a:r>
            <a:endParaRPr sz="1200" b="1">
              <a:solidFill>
                <a:srgbClr val="1C5CAB"/>
              </a:solidFill>
              <a:latin typeface="Calibri" panose="020F0502020204030204"/>
            </a:endParaRPr>
          </a:p>
          <a:p>
            <a:pPr algn="just">
              <a:lnSpc>
                <a:spcPct val="106000"/>
              </a:lnSpc>
              <a:spcAft>
                <a:spcPts val="0"/>
              </a:spcAft>
            </a:pPr>
            <a:r>
              <a:rPr sz="1150" b="0">
                <a:solidFill>
                  <a:srgbClr val="52514E"/>
                </a:solidFill>
                <a:latin typeface="Calibri" panose="020F0502020204030204"/>
              </a:rPr>
              <a:t>The near waypoint leans on the last couple of steps, where current velocity is close to the answer; the far waypoint leans on the earliest, where the trend to be extrapolated is anchored. A tilt rather than a concentration — most of the mass sits elsewhere in both cases.</a:t>
            </a:r>
            <a:endParaRPr sz="1150" b="0">
              <a:solidFill>
                <a:srgbClr val="52514E"/>
              </a:solidFill>
              <a:latin typeface="Calibri" panose="020F0502020204030204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010144" y="4517136"/>
            <a:ext cx="3630168" cy="1755648"/>
          </a:xfrm>
          <a:prstGeom prst="roundRect">
            <a:avLst>
              <a:gd name="adj" fmla="val 45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t"/>
          <a:lstStyle/>
          <a:p>
            <a:pPr algn="just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1C5CAB"/>
                </a:solidFill>
                <a:latin typeface="Calibri" panose="020F0502020204030204"/>
              </a:rPr>
              <a:t>The learned analogue of a receding-horizon planner</a:t>
            </a:r>
            <a:endParaRPr sz="1200" b="1">
              <a:solidFill>
                <a:srgbClr val="1C5CAB"/>
              </a:solidFill>
              <a:latin typeface="Calibri" panose="020F0502020204030204"/>
            </a:endParaRPr>
          </a:p>
          <a:p>
            <a:pPr algn="just">
              <a:lnSpc>
                <a:spcPct val="106000"/>
              </a:lnSpc>
              <a:spcAft>
                <a:spcPts val="0"/>
              </a:spcAft>
            </a:pPr>
            <a:r>
              <a:rPr sz="1150" b="0">
                <a:solidFill>
                  <a:srgbClr val="52514E"/>
                </a:solidFill>
                <a:latin typeface="Calibri" panose="020F0502020204030204"/>
              </a:rPr>
              <a:t>The avoidance example sharpens the same structure. Instantaneous state for the immediate control step, trend and context for the tail of the horizon — how a predictive planner weights its own window. Read as a description of the attention pattern, not a mechanism the model was shown to use.</a:t>
            </a:r>
            <a:endParaRPr sz="1150" b="0">
              <a:solidFill>
                <a:srgbClr val="52514E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A1A1A"/>
                </a:solidFill>
                <a:latin typeface="Calibri" panose="020F0502020204030204"/>
              </a:rPr>
              <a:t>Latency never binds — quality, stability and interpretability decide deployment</a:t>
            </a:r>
            <a:endParaRPr sz="2300" b="1">
              <a:solidFill>
                <a:srgbClr val="1A1A1A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804672"/>
            <a:ext cx="1109167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52514E"/>
                </a:solidFill>
                <a:latin typeface="Calibri" panose="020F0502020204030204"/>
              </a:rPr>
              <a:t>Feasibility verdicts against the platform gates, and the model picks they imply</a:t>
            </a:r>
            <a:endParaRPr sz="1300" b="0">
              <a:solidFill>
                <a:srgbClr val="52514E"/>
              </a:solidFill>
              <a:latin typeface="Calibri" panose="020F050202020403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27432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98781"/>
                </a:solidFill>
                <a:latin typeface="Calibri" panose="020F0502020204030204"/>
              </a:rPr>
              <a:t>InGen Dynamics · ML &amp; NN Analyst Internship — Mid-Point Review (W1–W4)</a:t>
            </a:r>
            <a:endParaRPr sz="900" b="0">
              <a:solidFill>
                <a:srgbClr val="898781"/>
              </a:solidFill>
              <a:latin typeface="Calibri" panose="020F0502020204030204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48640" y="1481328"/>
            <a:ext cx="11091672" cy="1060704"/>
          </a:xfrm>
          <a:prstGeom prst="roundRect">
            <a:avLst>
              <a:gd name="adj" fmla="val 45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t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1">
                <a:solidFill>
                  <a:srgbClr val="1C5CAB"/>
                </a:solidFill>
                <a:latin typeface="Calibri" panose="020F0502020204030204"/>
              </a:rPr>
              <a:t>Aido Rover — 100 ms streaming gate: all PASS</a:t>
            </a:r>
            <a:endParaRPr sz="1250" b="1">
              <a:solidFill>
                <a:srgbClr val="1C5CAB"/>
              </a:solidFill>
              <a:latin typeface="Calibri" panose="020F0502020204030204"/>
            </a:endParaRP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0">
                <a:solidFill>
                  <a:srgbClr val="52514E"/>
                </a:solidFill>
                <a:latin typeface="Calibri" panose="020F0502020204030204"/>
              </a:rPr>
              <a:t>The worst model (RandomForest, 7.9 ms) sits &gt;12× under the gate; the neural models are all sub-millisecond, two to three orders of magnitude under it, and the window-scaling analysis puts the breach point far beyond anything measured fault durations justify.</a:t>
            </a:r>
            <a:endParaRPr sz="1200" b="0">
              <a:solidFill>
                <a:srgbClr val="52514E"/>
              </a:solidFill>
              <a:latin typeface="Calibri" panose="020F050202020403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8640" y="2706624"/>
            <a:ext cx="11091672" cy="1060704"/>
          </a:xfrm>
          <a:prstGeom prst="roundRect">
            <a:avLst>
              <a:gd name="adj" fmla="val 45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t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1">
                <a:solidFill>
                  <a:srgbClr val="1C5CAB"/>
                </a:solidFill>
                <a:latin typeface="Calibri" panose="020F0502020204030204"/>
              </a:rPr>
              <a:t>Aido Humanoid — 50 ms planning gate: all</a:t>
            </a:r>
            <a:r>
              <a:rPr lang="en-US" sz="1250" b="1">
                <a:solidFill>
                  <a:srgbClr val="1C5CAB"/>
                </a:solidFill>
                <a:latin typeface="Calibri" panose="020F0502020204030204"/>
              </a:rPr>
              <a:t> </a:t>
            </a:r>
            <a:r>
              <a:rPr sz="1250" b="1">
                <a:solidFill>
                  <a:srgbClr val="1C5CAB"/>
                </a:solidFill>
                <a:latin typeface="Calibri" panose="020F0502020204030204"/>
              </a:rPr>
              <a:t>PASS</a:t>
            </a:r>
            <a:endParaRPr sz="1250" b="1">
              <a:solidFill>
                <a:srgbClr val="1C5CAB"/>
              </a:solidFill>
              <a:latin typeface="Calibri" panose="020F0502020204030204"/>
            </a:endParaRP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0">
                <a:solidFill>
                  <a:srgbClr val="52514E"/>
                </a:solidFill>
                <a:latin typeface="Calibri" panose="020F0502020204030204"/>
              </a:rPr>
              <a:t>Plan-defined gate (product docs specify 10 ms whole-body MPC / 150 ms grasp planning — discrepancy recorded, plan wins per convention); every regressor clears it by roughly two orders of magnitude.</a:t>
            </a:r>
            <a:endParaRPr sz="1200" b="0">
              <a:solidFill>
                <a:srgbClr val="52514E"/>
              </a:solidFill>
              <a:latin typeface="Calibri" panose="020F0502020204030204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48640" y="3931920"/>
            <a:ext cx="11091672" cy="1060704"/>
          </a:xfrm>
          <a:prstGeom prst="roundRect">
            <a:avLst>
              <a:gd name="adj" fmla="val 45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t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1">
                <a:solidFill>
                  <a:srgbClr val="1C5CAB"/>
                </a:solidFill>
                <a:latin typeface="Calibri" panose="020F0502020204030204"/>
              </a:rPr>
              <a:t>Consequence for model selection</a:t>
            </a:r>
            <a:endParaRPr sz="1250" b="1">
              <a:solidFill>
                <a:srgbClr val="1C5CAB"/>
              </a:solidFill>
              <a:latin typeface="Calibri" panose="020F0502020204030204"/>
            </a:endParaRP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0">
                <a:solidFill>
                  <a:srgbClr val="52514E"/>
                </a:solidFill>
                <a:latin typeface="Calibri" panose="020F0502020204030204"/>
              </a:rPr>
              <a:t>Detection quality is a near-tie once capacity is matched, so selection falls to fold stability, cost and interpretability: MLP as the rover anomaly default · Transformer only where fault localisation is operationally worth 4.5× the parameters · LSTM for humanoid trajectory (best accuracy, lowest seed variance).</a:t>
            </a:r>
            <a:endParaRPr sz="1200" b="0">
              <a:solidFill>
                <a:srgbClr val="52514E"/>
              </a:solidFill>
              <a:latin typeface="Calibri" panose="020F0502020204030204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48640" y="5157216"/>
            <a:ext cx="11091672" cy="1060704"/>
          </a:xfrm>
          <a:prstGeom prst="roundRect">
            <a:avLst>
              <a:gd name="adj" fmla="val 45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28016" bIns="91440" rtlCol="0" anchor="t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1">
                <a:solidFill>
                  <a:srgbClr val="1C5CAB"/>
                </a:solidFill>
                <a:latin typeface="Calibri" panose="020F0502020204030204"/>
              </a:rPr>
              <a:t>Open risk carried into Phase C</a:t>
            </a:r>
            <a:endParaRPr sz="1250" b="1">
              <a:solidFill>
                <a:srgbClr val="1C5CAB"/>
              </a:solidFill>
              <a:latin typeface="Calibri" panose="020F0502020204030204"/>
            </a:endParaRP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0">
                <a:solidFill>
                  <a:srgbClr val="52514E"/>
                </a:solidFill>
                <a:latin typeface="Calibri" panose="020F0502020204030204"/>
              </a:rPr>
              <a:t>Stuck-type steady-state faults cap recall (no cross-wheel asymmetry to key on); candidate fixes — longer-horizon context or a terrain-conditioned feature — are queued behind the RL work.</a:t>
            </a:r>
            <a:endParaRPr sz="1200" b="0">
              <a:solidFill>
                <a:srgbClr val="52514E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9664</Words>
  <Application>WPS Presentation</Application>
  <PresentationFormat>On-screen Show (4:3)</PresentationFormat>
  <Paragraphs>306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7" baseType="lpstr">
      <vt:lpstr>Arial</vt:lpstr>
      <vt:lpstr>SimSun</vt:lpstr>
      <vt:lpstr>Wingdings</vt:lpstr>
      <vt:lpstr>Arial</vt:lpstr>
      <vt:lpstr>Calibri</vt:lpstr>
      <vt:lpstr>微软雅黑</vt:lpstr>
      <vt:lpstr>Arial Unicode MS</vt:lpstr>
      <vt:lpstr>宋体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lhy</cp:lastModifiedBy>
  <cp:revision>14</cp:revision>
  <dcterms:created xsi:type="dcterms:W3CDTF">2026-07-20T07:34:10Z</dcterms:created>
  <dcterms:modified xsi:type="dcterms:W3CDTF">2026-07-20T07:34:10Z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1033-11.1.0.11723</vt:lpwstr>
  </property>
</Properties>
</file>