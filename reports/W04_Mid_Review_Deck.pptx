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47088"/>
            <a:ext cx="9994392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1A1A1A"/>
                </a:solidFill>
                <a:latin typeface="Calibri" panose="020F0502020204030204"/>
              </a:rPr>
              <a:t>Mid-Point Review </a:t>
            </a:r>
            <a:endParaRPr sz="40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2761488"/>
            <a:ext cx="9994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0">
                <a:solidFill>
                  <a:srgbClr val="52514E"/>
                </a:solidFill>
                <a:latin typeface="Calibri" panose="020F0502020204030204"/>
              </a:rPr>
              <a:t>ML &amp; NN Analyst Internship · InGen Dynamics</a:t>
            </a:r>
            <a:endParaRPr sz="19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456432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0">
                <a:solidFill>
                  <a:srgbClr val="52514E"/>
                </a:solidFill>
                <a:latin typeface="Calibri" panose="020F0502020204030204"/>
              </a:rPr>
              <a:t>Hongyu Liu · July 2026</a:t>
            </a:r>
            <a:endParaRPr sz="15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3913632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400" b="0">
                <a:solidFill>
                  <a:srgbClr val="898781"/>
                </a:solidFill>
                <a:latin typeface="Calibri" panose="020F0502020204030204"/>
              </a:rPr>
              <a:t>Phase A (foundations) and Phase B (neural &amp; sequence models) complete · Phase C (reinforcement learning) next</a:t>
            </a:r>
            <a:endParaRPr sz="1400" b="0">
              <a:solidFill>
                <a:srgbClr val="898781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86687" y="4617720"/>
            <a:ext cx="2743200" cy="11704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C5CAB"/>
                </a:solidFill>
                <a:latin typeface="Calibri" panose="020F0502020204030204"/>
              </a:rPr>
              <a:t>1 world core</a:t>
            </a:r>
            <a:endParaRPr sz="1800" b="1">
              <a:solidFill>
                <a:srgbClr val="1C5CAB"/>
              </a:solidFill>
              <a:latin typeface="Calibri" panose="020F0502020204030204"/>
            </a:endParaRPr>
          </a:p>
          <a:p>
            <a:pPr algn="ctr"/>
            <a:r>
              <a:rPr sz="1100">
                <a:solidFill>
                  <a:srgbClr val="52514E"/>
                </a:solidFill>
                <a:latin typeface="Calibri" panose="020F0502020204030204"/>
              </a:rPr>
              <a:t>one generator, one canonical</a:t>
            </a:r>
            <a:endParaRPr sz="1100">
              <a:solidFill>
                <a:srgbClr val="52514E"/>
              </a:solidFill>
              <a:latin typeface="Calibri" panose="020F0502020204030204"/>
            </a:endParaRPr>
          </a:p>
          <a:p>
            <a:pPr algn="ctr"/>
            <a:r>
              <a:rPr sz="1100">
                <a:solidFill>
                  <a:srgbClr val="52514E"/>
                </a:solidFill>
                <a:latin typeface="Calibri" panose="020F0502020204030204"/>
              </a:rPr>
              <a:t>leakage-safe split, one ledger</a:t>
            </a:r>
            <a:endParaRPr sz="110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24247" y="4617720"/>
            <a:ext cx="2743200" cy="11704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C5CAB"/>
                </a:solidFill>
                <a:latin typeface="Calibri" panose="020F0502020204030204"/>
              </a:rPr>
              <a:t>11 models</a:t>
            </a:r>
            <a:endParaRPr sz="1800" b="1">
              <a:solidFill>
                <a:srgbClr val="1C5CAB"/>
              </a:solidFill>
              <a:latin typeface="Calibri" panose="020F0502020204030204"/>
            </a:endParaRPr>
          </a:p>
          <a:p>
            <a:pPr algn="ctr"/>
            <a:r>
              <a:rPr sz="1100">
                <a:solidFill>
                  <a:srgbClr val="52514E"/>
                </a:solidFill>
                <a:latin typeface="Calibri" panose="020F0502020204030204"/>
              </a:rPr>
              <a:t>6 anomaly detectors + 5 trajectory</a:t>
            </a:r>
            <a:endParaRPr sz="1100">
              <a:solidFill>
                <a:srgbClr val="52514E"/>
              </a:solidFill>
              <a:latin typeface="Calibri" panose="020F0502020204030204"/>
            </a:endParaRPr>
          </a:p>
          <a:p>
            <a:pPr algn="ctr"/>
            <a:r>
              <a:rPr sz="1100">
                <a:solidFill>
                  <a:srgbClr val="52514E"/>
                </a:solidFill>
                <a:latin typeface="Calibri" panose="020F0502020204030204"/>
              </a:rPr>
              <a:t>regressors, one shared protocol</a:t>
            </a:r>
            <a:endParaRPr sz="110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61807" y="4617720"/>
            <a:ext cx="2743200" cy="11704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C5CAB"/>
                </a:solidFill>
                <a:latin typeface="Calibri" panose="020F0502020204030204"/>
              </a:rPr>
              <a:t>All gates PASS</a:t>
            </a:r>
            <a:endParaRPr sz="1800" b="1">
              <a:solidFill>
                <a:srgbClr val="1C5CAB"/>
              </a:solidFill>
              <a:latin typeface="Calibri" panose="020F0502020204030204"/>
            </a:endParaRPr>
          </a:p>
          <a:p>
            <a:pPr algn="ctr"/>
            <a:r>
              <a:rPr sz="1100">
                <a:solidFill>
                  <a:srgbClr val="52514E"/>
                </a:solidFill>
                <a:latin typeface="Calibri" panose="020F0502020204030204"/>
              </a:rPr>
              <a:t>100 ms Aido Rover streaming ·</a:t>
            </a:r>
            <a:endParaRPr sz="1100">
              <a:solidFill>
                <a:srgbClr val="52514E"/>
              </a:solidFill>
              <a:latin typeface="Calibri" panose="020F0502020204030204"/>
            </a:endParaRPr>
          </a:p>
          <a:p>
            <a:pPr algn="ctr"/>
            <a:r>
              <a:rPr sz="1100">
                <a:solidFill>
                  <a:srgbClr val="52514E"/>
                </a:solidFill>
                <a:latin typeface="Calibri" panose="020F0502020204030204"/>
              </a:rPr>
              <a:t>50 ms Aido Humanoid planning</a:t>
            </a:r>
            <a:endParaRPr sz="110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InGen Dynamics · ML &amp; NN Analyst Internship — Mid-Point Review (W1–W4)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1 / 7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A1A1A"/>
                </a:solidFill>
                <a:latin typeface="Calibri" panose="020F0502020204030204"/>
              </a:rPr>
              <a:t>All six models clear the 100 ms gate ≥12× — top F1 0.829 is a capacity effect</a:t>
            </a:r>
            <a:endParaRPr sz="23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2514E"/>
                </a:solidFill>
                <a:latin typeface="Calibri" panose="020F0502020204030204"/>
              </a:rPr>
              <a:t>Headline · Aido Rover anomaly detection · 7-fold block-rotation mean ± std on the canonical split · single-sample CPU latency</a:t>
            </a:r>
            <a:endParaRPr sz="13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2743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5897880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868680"/>
                <a:gridCol w="77724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F1 (7-fold)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AUC (7-fold)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ms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≤100 ms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RandomForest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0.749 ± 0.048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0.960 ± 0.009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7.86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MLP</a:t>
                      </a:r>
                      <a:endParaRPr sz="115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0.794 ± 0.047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0.979 ± 0.011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0.14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1D-CNN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0.731 ± 0.115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0.965 ± 0.022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0.15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LSTM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0.704 ± 0.159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0.969 ± 0.014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0.19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GRU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0.747 ± 0.082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0.975 ± 0.006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0.67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Transformer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0.829 ± 0.069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0.982 ± 0.005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0.52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39312"/>
            <a:ext cx="5623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98781"/>
                </a:solidFill>
                <a:latin typeface="Calibri" panose="020F0502020204030204"/>
              </a:rPr>
              <a:t>All six deployment-feasible; </a:t>
            </a:r>
            <a:r>
              <a:rPr sz="1100" b="1">
                <a:solidFill>
                  <a:srgbClr val="52514E"/>
                </a:solidFill>
                <a:latin typeface="Calibri" panose="020F0502020204030204"/>
              </a:rPr>
              <a:t>highlighted row</a:t>
            </a:r>
            <a:r>
              <a:rPr sz="1100" b="0">
                <a:solidFill>
                  <a:srgbClr val="898781"/>
                </a:solidFill>
                <a:latin typeface="Calibri" panose="020F0502020204030204"/>
              </a:rPr>
              <a:t> = recommended default.</a:t>
            </a:r>
            <a:endParaRPr sz="1100" b="0">
              <a:solidFill>
                <a:srgbClr val="898781"/>
              </a:solidFill>
              <a:latin typeface="Calibri" panose="020F0502020204030204"/>
            </a:endParaRPr>
          </a:p>
        </p:txBody>
      </p:sp>
      <p:pic>
        <p:nvPicPr>
          <p:cNvPr id="7" name="Picture 6" descr="chartA_latency_vs_f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325880"/>
            <a:ext cx="548640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041648"/>
            <a:ext cx="56235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C5CAB"/>
                </a:solidFill>
                <a:latin typeface="Calibri" panose="020F0502020204030204"/>
              </a:rPr>
              <a:t>·  </a:t>
            </a:r>
            <a:r>
              <a:rPr sz="1200" b="1">
                <a:solidFill>
                  <a:srgbClr val="1A1A1A"/>
                </a:solidFill>
                <a:latin typeface="Calibri" panose="020F0502020204030204"/>
              </a:rPr>
              <a:t>MLP is the recommended default</a:t>
            </a: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: the Transformer's F1 edge is not real — within noise by a paired t-test (p = 0.34) and a capacity effect that reverses at matched parameters (Transformer-S 0.760, below the MLP). On the two axes that decide selection MLP is not beaten — equal F1 (0.794), better stability (best worst-fold, lowest fold variance) — at 4.5× fewer parameters.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C5CAB"/>
                </a:solidFill>
                <a:latin typeface="Calibri" panose="020F0502020204030204"/>
              </a:rPr>
              <a:t>·  </a:t>
            </a:r>
            <a:r>
              <a:rPr sz="1200" b="1">
                <a:solidFill>
                  <a:srgbClr val="1A1A1A"/>
                </a:solidFill>
                <a:latin typeface="Calibri" panose="020F0502020204030204"/>
              </a:rPr>
              <a:t>Latency never binds at 10 Hz</a:t>
            </a: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 — the slowest model sits &gt;12× under the gate; model choice is a quality/stability decision, not a speed one.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InGen Dynamics · ML &amp; NN Analyst Internship — Mid-Point Review (W1–W4)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2 / 7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A1A1A"/>
                </a:solidFill>
                <a:latin typeface="Calibri" panose="020F0502020204030204"/>
              </a:rPr>
              <a:t>One world core, one split, one standard — why every number here is comparable</a:t>
            </a:r>
            <a:endParaRPr sz="23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2514E"/>
                </a:solidFill>
                <a:latin typeface="Calibri" panose="020F0502020204030204"/>
              </a:rPr>
              <a:t>The evaluation scaffolding shared by every model family, Weeks 2–4</a:t>
            </a:r>
            <a:endParaRPr sz="13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2743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05635"/>
            <a:ext cx="3630295" cy="1885315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C5CAB"/>
                </a:solidFill>
                <a:latin typeface="Calibri" panose="020F0502020204030204"/>
              </a:rPr>
              <a:t>Shared world dynamics</a:t>
            </a:r>
            <a:endParaRPr sz="140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A1A1A"/>
                </a:solidFill>
                <a:latin typeface="Calibri" panose="020F0502020204030204"/>
              </a:rPr>
              <a:t>The shared world-dynamics core generates the 9-channel sensor stream (calibrated 85/15 normal/anomaly); the W5–6 RL environments import the same core, so offline data and the online env cannot drift.</a:t>
            </a:r>
            <a:endParaRPr sz="14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79265" y="1905635"/>
            <a:ext cx="3630295" cy="1884680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C5CAB"/>
                </a:solidFill>
                <a:latin typeface="Calibri" panose="020F0502020204030204"/>
              </a:rPr>
              <a:t>Leakage-safe canonical split</a:t>
            </a:r>
            <a:endParaRPr sz="140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A1A1A"/>
                </a:solidFill>
                <a:latin typeface="Calibri" panose="020F0502020204030204"/>
              </a:rPr>
              <a:t>Block-segmented + StratifiedGroupKFold with a 50-step purge kills window leakage at the split level. All six model families read the same fold file instead of re-deriving a split.</a:t>
            </a:r>
            <a:endParaRPr sz="14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09890" y="1905635"/>
            <a:ext cx="3630295" cy="1890395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C5CAB"/>
                </a:solidFill>
                <a:latin typeface="Calibri" panose="020F0502020204030204"/>
              </a:rPr>
              <a:t>Two-phase fold protocol</a:t>
            </a:r>
            <a:endParaRPr sz="140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A1A1A"/>
                </a:solidFill>
                <a:latin typeface="Calibri" panose="020F0502020204030204"/>
              </a:rPr>
              <a:t>Design choices are tuned on the canonical fold only; the locked config is retrained across all 7 fold rotations — the ledger reports mean ± std F1/AUC with per-fold columns.</a:t>
            </a:r>
            <a:endParaRPr sz="14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4041775"/>
            <a:ext cx="5504815" cy="1905635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C5CAB"/>
                </a:solidFill>
                <a:latin typeface="Calibri" panose="020F0502020204030204"/>
              </a:rPr>
              <a:t>Mandatory reporting standard</a:t>
            </a:r>
            <a:endParaRPr sz="140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A1A1A"/>
                </a:solidFill>
                <a:latin typeface="Calibri" panose="020F0502020204030204"/>
              </a:rPr>
              <a:t>Split sizes · hyperparameters + seed · confusion matrix · per-class P/R/F1 · timeit latency · feasibility verdict against the platform gate </a:t>
            </a:r>
            <a:r>
              <a:rPr lang="en-US" sz="1400" b="0">
                <a:solidFill>
                  <a:srgbClr val="1A1A1A"/>
                </a:solidFill>
                <a:latin typeface="Calibri" panose="020F0502020204030204"/>
              </a:rPr>
              <a:t>for</a:t>
            </a:r>
            <a:r>
              <a:rPr sz="1400" b="0">
                <a:solidFill>
                  <a:srgbClr val="1A1A1A"/>
                </a:solidFill>
                <a:latin typeface="Calibri" panose="020F0502020204030204"/>
              </a:rPr>
              <a:t> every model.</a:t>
            </a:r>
            <a:endParaRPr sz="14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3950" y="4041775"/>
            <a:ext cx="5504815" cy="1905635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C5CAB"/>
                </a:solidFill>
                <a:latin typeface="Calibri" panose="020F0502020204030204"/>
              </a:rPr>
              <a:t>The feature lesson that carried Phase B</a:t>
            </a:r>
            <a:endParaRPr sz="140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A1A1A"/>
                </a:solidFill>
                <a:latin typeface="Calibri" panose="020F0502020204030204"/>
              </a:rPr>
              <a:t>Cross-channel physical features (inter-wheel std, stall ratio) beat model and split tuning: +0.27 F1 on the RF baseline — before any neural model was trained.</a:t>
            </a:r>
            <a:endParaRPr sz="14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InGen Dynamics · ML &amp; NN Analyst Internship — Mid-Point Review (W1–W4)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3 / 7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A1A1A"/>
                </a:solidFill>
                <a:latin typeface="Calibri" panose="020F0502020204030204"/>
              </a:rPr>
              <a:t>Preprocessing &amp; features — 9 raw sensors into a physics-driven 40-feature matrix</a:t>
            </a:r>
            <a:endParaRPr sz="23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2514E"/>
                </a:solidFill>
                <a:latin typeface="Calibri" panose="020F0502020204030204"/>
              </a:rPr>
              <a:t>Week 2 · why the features are built for the fault mechanism, and why a plain outlier rule is not enough</a:t>
            </a:r>
            <a:endParaRPr sz="13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2743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36192"/>
            <a:ext cx="5504688" cy="1810512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Data &amp; cleaning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15,000 steps (25 min at 10 Hz), 9 sensor channels, 15% anomaly — a causal mechanical fault (slip + stuck), not an injected burst. 0.5% sensor missingness repaired by forward/backward-fill. Torque shows zero 3σ outliers — terrain already spreads it over a wide range</a:t>
            </a:r>
            <a:r>
              <a:rPr lang="en-US" sz="1200" b="0">
                <a:solidFill>
                  <a:srgbClr val="1A1A1A"/>
                </a:solidFill>
                <a:latin typeface="Calibri" panose="020F0502020204030204"/>
              </a:rPr>
              <a:t>, </a:t>
            </a: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 so a plain outlier rule cannot separate faults from rough driving.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35624" y="1536192"/>
            <a:ext cx="5504688" cy="1810512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Feature engineering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FFT over a 50-step (5 s) window on the 4 torque channels + LiDAR captures the spectral fault signature (25 features). GPS enters as per-step deltas — absolute position is a memorised map shortcut, the delta is the transferable displacement signal. Two cross-channel physical features close the gap a per-channel view cannot: inter-wheel torque std (slip) and stall ratio (stuck). Matrix = 9 raw + 25 FFT + 6 physical = 40 features.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3712463"/>
            <a:ext cx="5504688" cy="1810512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Dimensionality reduction (PCA)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The 40 scaled features reduce to 19 components at 95.1% variance, fit on train only. PC1 is the torque spectral centroid — the shared terrain-torque driver behind both fault types; PC2 is the stall ratio, a directly interpretable axis for the stuck mechanism.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35624" y="3712463"/>
            <a:ext cx="5504688" cy="1810512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Feature selection (RF)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Selection ranks on F1, not accuracy — with an 85% majority class, accuracy is blind to the minority. The F1 criterion keeps 5 components (val F1 0.828), slightly beating the full 19-set (0.812). Analysis only: the deployed RF keeps all 19 components.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InGen Dynamics · ML &amp; NN Analyst Internship — Mid-Point Review (W1–W4)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4 / 7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A1A1A"/>
                </a:solidFill>
                <a:latin typeface="Calibri" panose="020F0502020204030204"/>
              </a:rPr>
              <a:t>Attention localises the fault (5.3× selectivity) — it does not out-detect at equal capacity</a:t>
            </a:r>
            <a:endParaRPr sz="23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2514E"/>
                </a:solidFill>
                <a:latin typeface="Calibri" panose="020F0502020204030204"/>
              </a:rPr>
              <a:t>What six models on identical data, seeds and protocol actually say about the task</a:t>
            </a:r>
            <a:endParaRPr sz="13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2743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504688" cy="1664208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Capacity, not architecture, sets the ledger's top line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Param-matched Transformer-S (d_model 32): F1 0.829 → 0.760, statistically indistinguishable from the GRU (p = 0.76). MLP, GRU, RF and Transformer-S form one near-tie; only the 67.8K-parameter Transformer pokes above it, at 4.5× the MLP's weights.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35624" y="1828800"/>
            <a:ext cx="5504688" cy="1664208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Localisation is the Transformer's real differentiator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Attention mass lands on the true fault span in 98% of eligible anomalous windows — median selectivity 5.3× vs the LSTM hidden state's 1.15×. Genuine fault localisation for pointing an operator at where the fault is; an interpretability asset, not detection accuracy.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3858768"/>
            <a:ext cx="5504688" cy="1664208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Where the residual misses live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False negatives concentrate in stuck-type faults: all four wheel torques rise together with no cross-wheel asymmetry, so steady-state stuck reads as heavy terrain. Slip-type faults are caught reliably via the engineered cross-channel features.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35624" y="3858768"/>
            <a:ext cx="5504688" cy="1664208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Stability, not ranking, is what breaks across folds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LSTM is the least fold-stable model in the ledger (±0.16 F1): one fold's val-tuned threshold collapses its F1 to 0.39 while AUC stays 0.97 on the same fold — threshold calibration, not discrimination, is the fragile part.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InGen Dynamics · ML &amp; NN Analyst Internship — Mid-Point Review (W1–W4)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5 / 7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A1A1A"/>
                </a:solidFill>
                <a:latin typeface="Calibri" panose="020F0502020204030204"/>
              </a:rPr>
              <a:t>Trajectory — LSTM is best at every horizon: 1.44 cm mean, 2.18 cm at waypoint 5, 0.34 ms</a:t>
            </a:r>
            <a:endParaRPr sz="23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2514E"/>
                </a:solidFill>
                <a:latin typeface="Calibri" panose="020F0502020204030204"/>
              </a:rPr>
              <a:t>Aido Humanoid · 10 steps of state → next 5 waypoints · 5,000 synthetic episodes · 5 seeds · 50 ms planning gate</a:t>
            </a:r>
            <a:endParaRPr sz="13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2743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5623560" cy="1837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600200"/>
                <a:gridCol w="868680"/>
                <a:gridCol w="822960"/>
                <a:gridCol w="77724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Mean Euclid (cm)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h5 (cm)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ms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≤50 ms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1C5CAB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CV extrapolation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2.77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4.28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0.003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Linear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1.50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2.56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0.09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7F8FA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MLP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1.63 ± 0.06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2.43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0.03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LSTM</a:t>
                      </a:r>
                      <a:endParaRPr sz="115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1.44 ± 0.04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2.18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0.34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CE9D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Transformer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1.60 ± 0.15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2.32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0.51</a:t>
                      </a:r>
                      <a:endParaRPr sz="115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006300"/>
                          </a:solidFill>
                          <a:latin typeface="Calibri" panose="020F0502020204030204"/>
                        </a:rPr>
                        <a:t>PASS</a:t>
                      </a:r>
                      <a:endParaRPr sz="1150" b="1">
                        <a:solidFill>
                          <a:srgbClr val="006300"/>
                        </a:solidFill>
                        <a:latin typeface="Calibri" panose="020F0502020204030204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37560"/>
            <a:ext cx="5623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98781"/>
                </a:solidFill>
                <a:latin typeface="Calibri" panose="020F0502020204030204"/>
              </a:rPr>
              <a:t>Mean ± std over 5 training seeds; CV / Linear are deterministic.</a:t>
            </a:r>
            <a:endParaRPr sz="1100" b="0">
              <a:solidFill>
                <a:srgbClr val="898781"/>
              </a:solidFill>
              <a:latin typeface="Calibri" panose="020F0502020204030204"/>
            </a:endParaRPr>
          </a:p>
        </p:txBody>
      </p:sp>
      <p:pic>
        <p:nvPicPr>
          <p:cNvPr id="7" name="Picture 6" descr="chartB_per_horiz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98448"/>
            <a:ext cx="539496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767328"/>
            <a:ext cx="57150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C5CAB"/>
                </a:solidFill>
                <a:latin typeface="Calibri" panose="020F0502020204030204"/>
              </a:rPr>
              <a:t>·  </a:t>
            </a:r>
            <a:r>
              <a:rPr sz="1200" b="1">
                <a:solidFill>
                  <a:srgbClr val="1A1A1A"/>
                </a:solidFill>
                <a:latin typeface="Calibri" panose="020F0502020204030204"/>
              </a:rPr>
              <a:t>The task is mostly linear</a:t>
            </a: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 — Linear wins the near waypoints (0.73 cm at h1: an optimal sway/noise filter); the whole nonlinear gain concentrates in obstacle-avoidance episodes (LSTM 2.86 vs Linear 3.52 cm at h5).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C5CAB"/>
                </a:solidFill>
                <a:latin typeface="Calibri" panose="020F0502020204030204"/>
              </a:rPr>
              <a:t>·  </a:t>
            </a:r>
            <a:r>
              <a:rPr sz="1200" b="1">
                <a:solidFill>
                  <a:srgbClr val="1A1A1A"/>
                </a:solidFill>
                <a:latin typeface="Calibri" panose="020F0502020204030204"/>
              </a:rPr>
              <a:t>The Transformer does not justify its latency here</a:t>
            </a: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: slower and less accurate than the LSTM, with 3× the seed variance (±0.15); a param-matched control confirms a data-scale limit, not a tuning miss — not significant vs MLP/Linear.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C5CAB"/>
                </a:solidFill>
                <a:latin typeface="Calibri" panose="020F0502020204030204"/>
              </a:rPr>
              <a:t>·  </a:t>
            </a:r>
            <a:r>
              <a:rPr sz="1200" b="1">
                <a:solidFill>
                  <a:srgbClr val="1A1A1A"/>
                </a:solidFill>
                <a:latin typeface="Calibri" panose="020F0502020204030204"/>
              </a:rPr>
              <a:t>Attention over the horizon</a:t>
            </a: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: near waypoints read the latest state, far waypoints read progressively older trend context (attention centre-of-mass step 6.7 → 3.1) — the learned analogue of a receding-horizon planner.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InGen Dynamics · ML &amp; NN Analyst Internship — Mid-Point Review (W1–W4)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6 / 7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A1A1A"/>
                </a:solidFill>
                <a:latin typeface="Calibri" panose="020F0502020204030204"/>
              </a:rPr>
              <a:t>Latency never binds — quality, stability and interpretability decide deployment</a:t>
            </a:r>
            <a:endParaRPr sz="23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2514E"/>
                </a:solidFill>
                <a:latin typeface="Calibri" panose="020F0502020204030204"/>
              </a:rPr>
              <a:t>Feasibility verdicts against the platform gates, and the model picks they imply</a:t>
            </a:r>
            <a:endParaRPr sz="13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2743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11091672" cy="1060704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Aido Rover — 100 ms streaming gate: all six PASS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Worst model (RandomForest, 7.9 ms) sits &gt;12× under the gate; the neural models sit 150–740× under it. Window-scaling fits put attention's breach point at hundreds of seconds of buffer — far beyond the 5 s that measured fault durations justify.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706624"/>
            <a:ext cx="11091672" cy="1060704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Aido Humanoid — 50 ms planning gate: all five PASS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Plan-defined gate (product docs specify 10 ms whole-body MPC / 150 ms grasp planning — discrepancy recorded, plan wins per convention); every regressor clears it by two or more orders of magnitude.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11091672" cy="1060704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Consequence for model selection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Detection quality is a near-tie once capacity is matched, so selection falls to fold stability, cost and interpretability: MLP as the rover anomaly default · Transformer only where fault localisation is operationally worth 4.5× the parameters · LSTM for humanoid trajectory (best accuracy, lowest seed variance).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5157216"/>
            <a:ext cx="11091672" cy="1060704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5CAB"/>
                </a:solidFill>
                <a:latin typeface="Calibri" panose="020F0502020204030204"/>
              </a:rPr>
              <a:t>Open risk carried into Phase C</a:t>
            </a:r>
            <a:endParaRPr sz="1250" b="1">
              <a:solidFill>
                <a:srgbClr val="1C5CAB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</a:pPr>
            <a:r>
              <a:rPr sz="1200" b="0">
                <a:solidFill>
                  <a:srgbClr val="1A1A1A"/>
                </a:solidFill>
                <a:latin typeface="Calibri" panose="020F0502020204030204"/>
              </a:rPr>
              <a:t>Stuck-type steady-state faults cap recall (no cross-wheel asymmetry to key on); candidate fixes — longer-horizon context or a terrain-conditioned feature — are queued behind the RL work.</a:t>
            </a:r>
            <a:endParaRPr sz="12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InGen Dynamics · ML &amp; NN Analyst Internship — Mid-Point Review (W1–W4)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98781"/>
                </a:solidFill>
                <a:latin typeface="Calibri" panose="020F0502020204030204"/>
              </a:rPr>
              <a:t>7 / 7</a:t>
            </a:r>
            <a:endParaRPr sz="900" b="0">
              <a:solidFill>
                <a:srgbClr val="8987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8379</Words>
  <Application>WPS Presentation</Application>
  <PresentationFormat>On-screen Show (4:3)</PresentationFormat>
  <Paragraphs>264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微软雅黑</vt:lpstr>
      <vt:lpstr>Arial Unicode MS</vt:lpstr>
      <vt:lpstr>Calibri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lhy</cp:lastModifiedBy>
  <cp:revision>2</cp:revision>
  <dcterms:created xsi:type="dcterms:W3CDTF">2026-07-12T21:37:33Z</dcterms:created>
  <dcterms:modified xsi:type="dcterms:W3CDTF">2026-07-12T21:37:33Z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